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DM Sans"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tirée du document d’analyse « Multijoueur 2.0 ». Objectif : décider de l’ordre des lots et trancher les questions ouvertes.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durées sont des estimations, pas des engagements. L’ordre recommandé : 0, 1, 2, 3, puis 4, 5,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l’étape 2, la page charge d’abord le bon état par le serveur, puis la première réponse de Firebase l’écrase avec l’état amputé. D’où l’impression que le correctif précédent n’avait rien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Mélanger passe par le serveur pour garder le même ordre sur tous les appareils ; l’adversaire continue de ne voir que des points d’interrogation.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règles sont stockées dans une colonne settings de la salle (migration 0006) et figées dès que l’invité rejoint. La route preview les montre avant l’arrivée, y compris par un lien d’invitation.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Seul le serveur écrit dans /lobby ; tout joueur connecté peut le lire. Le mode spectateur est laissé pour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Firebase ne garde que les 100 derniers messages par conversation ; l’historique complet est dans PostgreSQL. Les messages ne sont pas chiffrés de bout en bout : le serveur les lit pour modérer, il faudra le dire aux joueurs.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pseudo n’est pas unique aujourd’hui, d’où le code ami. Les groupes sont privés : un ami ne sait pas dans quel groupe il est rangé.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flèche en pointillé est la seule écriture directe d’un navigateur : sa présence, sous son propre identifiant. Trois migrations : 0006 (règles, minuteur), 0007 (amis), 0008 (messagerie).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limites et tarifs publiés par Firebase (firebase.google.com/docs/database/usage/limits et firebase.google.com/pricing), consultés le 25 octobre 2026. Je ne suis pas juriste : le point Loi 25 est à faire valider.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vert, la partie à deux (lots 0 à 3) ; en or, la vie sociale (lots 4 à 6). Les lots 5 et 6 ne dépendent que du lot 4 : on peut les inverser. Le lot 0 mérite d’être livré seul et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choix changent ce qui sera construit. Les propositions sont des valeurs par défaut, pas des décisions.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EFD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E3B2A"/>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1E3B2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EFD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E3B2A"/>
                </a:solidFill>
                <a:latin typeface="Playfair Display" pitchFamily="34" charset="0"/>
                <a:ea typeface="Playfair Display" pitchFamily="34" charset="-122"/>
                <a:cs typeface="Playfair Display"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84960"/>
            <a:ext cx="10566400" cy="4460240"/>
          </a:xfrm>
          <a:prstGeom prst="rect">
            <a:avLst/>
          </a:prstGeom>
          <a:noFill/>
          <a:ln/>
        </p:spPr>
        <p:txBody>
          <a:bodyPr wrap="square" lIns="0" tIns="0" rIns="0" bIns="0" rtlCol="0" anchor="t"/>
          <a:lstStyle>
            <a:lvl1pPr algn="l" indent="0" marL="0">
              <a:lnSpc>
                <a:spcPct val="140000"/>
              </a:lnSpc>
              <a:buNone/>
              <a:defRPr lang="en-US" sz="1600" dirty="0">
                <a:solidFill>
                  <a:srgbClr val="1E3B2A"/>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B2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43A"/>
                </a:solidFill>
                <a:latin typeface="DM Sans" pitchFamily="34" charset="0"/>
                <a:ea typeface="DM Sans" pitchFamily="34" charset="-122"/>
                <a:cs typeface="DM Sans" pitchFamily="34" charset="-120"/>
              </a:rPr>
              <a:t>PROJET SCRABBLE · ANALYSE</a:t>
            </a:r>
            <a:endParaRPr lang="en-US" sz="1200" dirty="0"/>
          </a:p>
        </p:txBody>
      </p:sp>
      <p:sp>
        <p:nvSpPr>
          <p:cNvPr id="3" name="Text 1"/>
          <p:cNvSpPr/>
          <p:nvPr>
            <p:ph type="title"/>
          </p:nvPr>
        </p:nvSpPr>
        <p:spPr>
          <a:xfrm>
            <a:off x="812800" y="23190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1" i="0" dirty="0">
                <a:solidFill>
                  <a:srgbClr val="F6EFDF"/>
                </a:solidFill>
                <a:latin typeface="Playfair Display" pitchFamily="18" charset="0"/>
                <a:ea typeface="Playfair Display" pitchFamily="18" charset="-122"/>
                <a:cs typeface="Playfair Display" pitchFamily="18" charset="-120"/>
              </a:rPr>
              <a:t>Multijoueur 2.0</a:t>
            </a:r>
            <a:endParaRPr lang="en-US" sz="8000" dirty="0"/>
          </a:p>
        </p:txBody>
      </p:sp>
      <p:sp>
        <p:nvSpPr>
          <p:cNvPr id="4" name="Text 2"/>
          <p:cNvSpPr/>
          <p:nvPr/>
        </p:nvSpPr>
        <p:spPr>
          <a:xfrm>
            <a:off x="812800" y="3589020"/>
            <a:ext cx="8502650" cy="75184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9D2BF"/>
                </a:solidFill>
                <a:latin typeface="DM Sans" pitchFamily="34" charset="0"/>
                <a:ea typeface="DM Sans" pitchFamily="34" charset="-122"/>
                <a:cs typeface="DM Sans" pitchFamily="34" charset="-120"/>
              </a:rPr>
              <a:t>Faisabilité et plan de réalisation : règles de partie, salons publics, messagerie, amis</a:t>
            </a:r>
            <a:endParaRPr lang="en-US" sz="2200" dirty="0"/>
          </a:p>
        </p:txBody>
      </p:sp>
      <p:sp>
        <p:nvSpPr>
          <p:cNvPr id="5" name="Text 3"/>
          <p:cNvSpPr/>
          <p:nvPr/>
        </p:nvSpPr>
        <p:spPr>
          <a:xfrm>
            <a:off x="812800" y="5608320"/>
            <a:ext cx="459502" cy="436880"/>
          </a:xfrm>
          <a:prstGeom prst="roundRect">
            <a:avLst>
              <a:gd name="adj" fmla="val 8721"/>
            </a:avLst>
          </a:prstGeom>
          <a:solidFill>
            <a:srgbClr val="C9A43A"/>
          </a:solidFill>
          <a:ln/>
        </p:spPr>
        <p:txBody>
          <a:bodyPr wrap="none" lIns="0" tIns="0" rIns="0" bIns="0" rtlCol="0" anchor="ctr">
            <a:normAutofit/>
          </a:bodyPr>
          <a:lstStyle/>
          <a:p>
            <a:pPr algn="ctr" indent="0" marL="0">
              <a:lnSpc>
                <a:spcPts val="2240"/>
              </a:lnSpc>
              <a:buNone/>
            </a:pPr>
            <a:r>
              <a:rPr lang="en-US" sz="1600" b="1" dirty="0">
                <a:solidFill>
                  <a:srgbClr val="1E3B2A"/>
                </a:solidFill>
                <a:latin typeface="DM Sans" pitchFamily="34" charset="0"/>
                <a:ea typeface="DM Sans" pitchFamily="34" charset="-122"/>
                <a:cs typeface="DM Sans" pitchFamily="34" charset="-120"/>
              </a:rPr>
              <a:t>M</a:t>
            </a:r>
            <a:endParaRPr lang="en-US" sz="1600" dirty="0"/>
          </a:p>
        </p:txBody>
      </p:sp>
      <p:sp>
        <p:nvSpPr>
          <p:cNvPr id="6" name="Text 4"/>
          <p:cNvSpPr/>
          <p:nvPr/>
        </p:nvSpPr>
        <p:spPr>
          <a:xfrm>
            <a:off x="1373902" y="5608320"/>
            <a:ext cx="418465" cy="436880"/>
          </a:xfrm>
          <a:prstGeom prst="roundRect">
            <a:avLst>
              <a:gd name="adj" fmla="val 9105"/>
            </a:avLst>
          </a:prstGeom>
          <a:solidFill>
            <a:srgbClr val="C9A43A"/>
          </a:solidFill>
          <a:ln/>
        </p:spPr>
        <p:txBody>
          <a:bodyPr wrap="none" lIns="0" tIns="0" rIns="0" bIns="0" rtlCol="0" anchor="ctr">
            <a:normAutofit/>
          </a:bodyPr>
          <a:lstStyle/>
          <a:p>
            <a:pPr algn="ctr" indent="0" marL="0">
              <a:lnSpc>
                <a:spcPts val="2240"/>
              </a:lnSpc>
              <a:buNone/>
            </a:pPr>
            <a:r>
              <a:rPr lang="en-US" sz="1600" b="1" dirty="0">
                <a:solidFill>
                  <a:srgbClr val="1E3B2A"/>
                </a:solidFill>
                <a:latin typeface="DM Sans" pitchFamily="34" charset="0"/>
                <a:ea typeface="DM Sans" pitchFamily="34" charset="-122"/>
                <a:cs typeface="DM Sans" pitchFamily="34" charset="-120"/>
              </a:rPr>
              <a:t>U</a:t>
            </a:r>
            <a:endParaRPr lang="en-US" sz="1600" dirty="0"/>
          </a:p>
        </p:txBody>
      </p:sp>
      <p:sp>
        <p:nvSpPr>
          <p:cNvPr id="7" name="Text 5"/>
          <p:cNvSpPr/>
          <p:nvPr/>
        </p:nvSpPr>
        <p:spPr>
          <a:xfrm>
            <a:off x="1893967" y="5608320"/>
            <a:ext cx="393065" cy="436880"/>
          </a:xfrm>
          <a:prstGeom prst="roundRect">
            <a:avLst>
              <a:gd name="adj" fmla="val 9693"/>
            </a:avLst>
          </a:prstGeom>
          <a:solidFill>
            <a:srgbClr val="C9A43A"/>
          </a:solidFill>
          <a:ln/>
        </p:spPr>
        <p:txBody>
          <a:bodyPr wrap="none" lIns="0" tIns="0" rIns="0" bIns="0" rtlCol="0" anchor="ctr">
            <a:normAutofit/>
          </a:bodyPr>
          <a:lstStyle/>
          <a:p>
            <a:pPr algn="ctr" indent="0" marL="0">
              <a:lnSpc>
                <a:spcPts val="2240"/>
              </a:lnSpc>
              <a:buNone/>
            </a:pPr>
            <a:r>
              <a:rPr lang="en-US" sz="1600" b="1" dirty="0">
                <a:solidFill>
                  <a:srgbClr val="1E3B2A"/>
                </a:solidFill>
                <a:latin typeface="DM Sans" pitchFamily="34" charset="0"/>
                <a:ea typeface="DM Sans" pitchFamily="34" charset="-122"/>
                <a:cs typeface="DM Sans" pitchFamily="34" charset="-120"/>
              </a:rPr>
              <a:t>L</a:t>
            </a:r>
            <a:endParaRPr lang="en-US" sz="1600" dirty="0"/>
          </a:p>
        </p:txBody>
      </p:sp>
      <p:sp>
        <p:nvSpPr>
          <p:cNvPr id="8" name="Text 6"/>
          <p:cNvSpPr/>
          <p:nvPr/>
        </p:nvSpPr>
        <p:spPr>
          <a:xfrm>
            <a:off x="2388632" y="5608320"/>
            <a:ext cx="400764" cy="436880"/>
          </a:xfrm>
          <a:prstGeom prst="roundRect">
            <a:avLst>
              <a:gd name="adj" fmla="val 9507"/>
            </a:avLst>
          </a:prstGeom>
          <a:solidFill>
            <a:srgbClr val="C9A43A"/>
          </a:solidFill>
          <a:ln/>
        </p:spPr>
        <p:txBody>
          <a:bodyPr wrap="none" lIns="0" tIns="0" rIns="0" bIns="0" rtlCol="0" anchor="ctr">
            <a:normAutofit/>
          </a:bodyPr>
          <a:lstStyle/>
          <a:p>
            <a:pPr algn="ctr" indent="0" marL="0">
              <a:lnSpc>
                <a:spcPts val="2240"/>
              </a:lnSpc>
              <a:buNone/>
            </a:pPr>
            <a:r>
              <a:rPr lang="en-US" sz="1600" b="1" dirty="0">
                <a:solidFill>
                  <a:srgbClr val="1E3B2A"/>
                </a:solidFill>
                <a:latin typeface="DM Sans" pitchFamily="34" charset="0"/>
                <a:ea typeface="DM Sans" pitchFamily="34" charset="-122"/>
                <a:cs typeface="DM Sans" pitchFamily="34" charset="-120"/>
              </a:rPr>
              <a:t>T</a:t>
            </a:r>
            <a:endParaRPr lang="en-US" sz="1600" dirty="0"/>
          </a:p>
        </p:txBody>
      </p:sp>
      <p:sp>
        <p:nvSpPr>
          <p:cNvPr id="9" name="Text 7"/>
          <p:cNvSpPr/>
          <p:nvPr/>
        </p:nvSpPr>
        <p:spPr>
          <a:xfrm>
            <a:off x="2890996" y="5608320"/>
            <a:ext cx="334883" cy="436880"/>
          </a:xfrm>
          <a:prstGeom prst="roundRect">
            <a:avLst>
              <a:gd name="adj" fmla="val 11377"/>
            </a:avLst>
          </a:prstGeom>
          <a:solidFill>
            <a:srgbClr val="C9A43A"/>
          </a:solidFill>
          <a:ln/>
        </p:spPr>
        <p:txBody>
          <a:bodyPr wrap="none" lIns="0" tIns="0" rIns="0" bIns="0" rtlCol="0" anchor="ctr">
            <a:normAutofit/>
          </a:bodyPr>
          <a:lstStyle/>
          <a:p>
            <a:pPr algn="ctr" indent="0" marL="0">
              <a:lnSpc>
                <a:spcPts val="2240"/>
              </a:lnSpc>
              <a:buNone/>
            </a:pPr>
            <a:r>
              <a:rPr lang="en-US" sz="1600" b="1" dirty="0">
                <a:solidFill>
                  <a:srgbClr val="1E3B2A"/>
                </a:solidFill>
                <a:latin typeface="DM Sans" pitchFamily="34" charset="0"/>
                <a:ea typeface="DM Sans" pitchFamily="34" charset="-122"/>
                <a:cs typeface="DM Sans" pitchFamily="34" charset="-120"/>
              </a:rPr>
              <a:t>I</a:t>
            </a:r>
            <a:endParaRPr lang="en-US" sz="1600" dirty="0"/>
          </a:p>
        </p:txBody>
      </p:sp>
      <p:sp>
        <p:nvSpPr>
          <p:cNvPr id="10" name="Text 8"/>
          <p:cNvSpPr/>
          <p:nvPr/>
        </p:nvSpPr>
        <p:spPr>
          <a:xfrm>
            <a:off x="10186035" y="5831840"/>
            <a:ext cx="14317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25 octobre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EF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Tout est faisable avec l’infrastructure actuelle</a:t>
            </a:r>
            <a:endParaRPr lang="en-US" sz="3200" dirty="0"/>
          </a:p>
        </p:txBody>
      </p:sp>
      <p:sp>
        <p:nvSpPr>
          <p:cNvPr id="3" name="Shape 1"/>
          <p:cNvSpPr/>
          <p:nvPr/>
        </p:nvSpPr>
        <p:spPr>
          <a:xfrm>
            <a:off x="812800" y="1686560"/>
            <a:ext cx="3937000" cy="4358640"/>
          </a:xfrm>
          <a:prstGeom prst="roundRect">
            <a:avLst>
              <a:gd name="adj" fmla="val 2581"/>
            </a:avLst>
          </a:prstGeom>
          <a:solidFill>
            <a:srgbClr val="1E3B2A"/>
          </a:solidFill>
          <a:ln/>
        </p:spPr>
      </p:sp>
      <p:sp>
        <p:nvSpPr>
          <p:cNvPr id="4" name="Text 2"/>
          <p:cNvSpPr/>
          <p:nvPr/>
        </p:nvSpPr>
        <p:spPr>
          <a:xfrm>
            <a:off x="1168400" y="2430780"/>
            <a:ext cx="3322574"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3A"/>
                </a:solidFill>
                <a:latin typeface="DM Sans" pitchFamily="34" charset="0"/>
                <a:ea typeface="DM Sans" pitchFamily="34" charset="-122"/>
                <a:cs typeface="DM Sans" pitchFamily="34" charset="-120"/>
              </a:rPr>
              <a:t>EFFORT ESTIMÉ</a:t>
            </a:r>
            <a:endParaRPr lang="en-US" sz="1200" dirty="0"/>
          </a:p>
        </p:txBody>
      </p:sp>
      <p:sp>
        <p:nvSpPr>
          <p:cNvPr id="5" name="Text 3"/>
          <p:cNvSpPr/>
          <p:nvPr/>
        </p:nvSpPr>
        <p:spPr>
          <a:xfrm>
            <a:off x="1168400" y="2745740"/>
            <a:ext cx="3322574"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FDF"/>
                </a:solidFill>
                <a:latin typeface="Playfair Display" pitchFamily="18" charset="0"/>
                <a:ea typeface="Playfair Display" pitchFamily="18" charset="-122"/>
                <a:cs typeface="Playfair Display" pitchFamily="18" charset="-120"/>
              </a:rPr>
              <a:t>≈ 20 jours</a:t>
            </a:r>
            <a:endParaRPr lang="en-US" sz="6000" dirty="0"/>
          </a:p>
        </p:txBody>
      </p:sp>
      <p:sp>
        <p:nvSpPr>
          <p:cNvPr id="6" name="Text 4"/>
          <p:cNvSpPr/>
          <p:nvPr/>
        </p:nvSpPr>
        <p:spPr>
          <a:xfrm>
            <a:off x="1168400" y="4447540"/>
            <a:ext cx="3322574"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D9D2BF"/>
                </a:solidFill>
                <a:latin typeface="DM Sans" pitchFamily="34" charset="0"/>
                <a:ea typeface="DM Sans" pitchFamily="34" charset="-122"/>
                <a:cs typeface="DM Sans" pitchFamily="34" charset="-120"/>
              </a:rPr>
              <a:t>de 17 à 24 jours de développement, tests compris, pour un développeur seul</a:t>
            </a:r>
            <a:endParaRPr lang="en-US" sz="1600" dirty="0"/>
          </a:p>
        </p:txBody>
      </p:sp>
      <p:sp>
        <p:nvSpPr>
          <p:cNvPr id="7" name="Shape 5"/>
          <p:cNvSpPr/>
          <p:nvPr/>
        </p:nvSpPr>
        <p:spPr>
          <a:xfrm>
            <a:off x="5159375" y="2106295"/>
            <a:ext cx="6216650" cy="1233170"/>
          </a:xfrm>
          <a:prstGeom prst="roundRect">
            <a:avLst>
              <a:gd name="adj" fmla="val 5922"/>
            </a:avLst>
          </a:prstGeom>
          <a:solidFill>
            <a:srgbClr val="FFFCF4"/>
          </a:solidFill>
          <a:ln w="6350">
            <a:solidFill>
              <a:srgbClr val="E2D7BE"/>
            </a:solidFill>
            <a:prstDash val="solid"/>
          </a:ln>
        </p:spPr>
      </p:sp>
      <p:sp>
        <p:nvSpPr>
          <p:cNvPr id="8" name="Text 6"/>
          <p:cNvSpPr/>
          <p:nvPr/>
        </p:nvSpPr>
        <p:spPr>
          <a:xfrm>
            <a:off x="5415280" y="2311400"/>
            <a:ext cx="58759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B2A"/>
                </a:solidFill>
                <a:latin typeface="DM Sans" pitchFamily="34" charset="0"/>
                <a:ea typeface="DM Sans" pitchFamily="34" charset="-122"/>
                <a:cs typeface="DM Sans" pitchFamily="34" charset="-120"/>
              </a:rPr>
              <a:t>Aucun nouveau service</a:t>
            </a:r>
            <a:endParaRPr lang="en-US" sz="1800" dirty="0"/>
          </a:p>
        </p:txBody>
      </p:sp>
      <p:sp>
        <p:nvSpPr>
          <p:cNvPr id="9" name="Text 7"/>
          <p:cNvSpPr/>
          <p:nvPr/>
        </p:nvSpPr>
        <p:spPr>
          <a:xfrm>
            <a:off x="5415280" y="2636520"/>
            <a:ext cx="587598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446"/>
                </a:solidFill>
                <a:latin typeface="DM Sans" pitchFamily="34" charset="0"/>
                <a:ea typeface="DM Sans" pitchFamily="34" charset="-122"/>
                <a:cs typeface="DM Sans" pitchFamily="34" charset="-120"/>
              </a:rPr>
              <a:t>FastAPI et PostgreSQL sur Railway, Firebase, React sur Vercel suffisent</a:t>
            </a:r>
            <a:endParaRPr lang="en-US" sz="1400" dirty="0"/>
          </a:p>
        </p:txBody>
      </p:sp>
      <p:sp>
        <p:nvSpPr>
          <p:cNvPr id="10" name="Shape 8"/>
          <p:cNvSpPr/>
          <p:nvPr/>
        </p:nvSpPr>
        <p:spPr>
          <a:xfrm>
            <a:off x="5159375" y="3498215"/>
            <a:ext cx="6216650" cy="984250"/>
          </a:xfrm>
          <a:prstGeom prst="roundRect">
            <a:avLst>
              <a:gd name="adj" fmla="val 7419"/>
            </a:avLst>
          </a:prstGeom>
          <a:solidFill>
            <a:srgbClr val="FFFCF4"/>
          </a:solidFill>
          <a:ln w="6350">
            <a:solidFill>
              <a:srgbClr val="E2D7BE"/>
            </a:solidFill>
            <a:prstDash val="solid"/>
          </a:ln>
        </p:spPr>
      </p:sp>
      <p:sp>
        <p:nvSpPr>
          <p:cNvPr id="11" name="Text 9"/>
          <p:cNvSpPr/>
          <p:nvPr/>
        </p:nvSpPr>
        <p:spPr>
          <a:xfrm>
            <a:off x="5415280" y="3703320"/>
            <a:ext cx="58759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B2A"/>
                </a:solidFill>
                <a:latin typeface="DM Sans" pitchFamily="34" charset="0"/>
                <a:ea typeface="DM Sans" pitchFamily="34" charset="-122"/>
                <a:cs typeface="DM Sans" pitchFamily="34" charset="-120"/>
              </a:rPr>
              <a:t>7 lots, une PR chacun</a:t>
            </a:r>
            <a:endParaRPr lang="en-US" sz="1800" dirty="0"/>
          </a:p>
        </p:txBody>
      </p:sp>
      <p:sp>
        <p:nvSpPr>
          <p:cNvPr id="12" name="Text 10"/>
          <p:cNvSpPr/>
          <p:nvPr/>
        </p:nvSpPr>
        <p:spPr>
          <a:xfrm>
            <a:off x="5415280" y="4028440"/>
            <a:ext cx="58759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446"/>
                </a:solidFill>
                <a:latin typeface="DM Sans" pitchFamily="34" charset="0"/>
                <a:ea typeface="DM Sans" pitchFamily="34" charset="-122"/>
                <a:cs typeface="DM Sans" pitchFamily="34" charset="-120"/>
              </a:rPr>
              <a:t>Chaque lot est livrable et déployable seul</a:t>
            </a:r>
            <a:endParaRPr lang="en-US" sz="1400" dirty="0"/>
          </a:p>
        </p:txBody>
      </p:sp>
      <p:sp>
        <p:nvSpPr>
          <p:cNvPr id="13" name="Shape 11"/>
          <p:cNvSpPr/>
          <p:nvPr/>
        </p:nvSpPr>
        <p:spPr>
          <a:xfrm>
            <a:off x="5159375" y="4641215"/>
            <a:ext cx="6216650" cy="984250"/>
          </a:xfrm>
          <a:prstGeom prst="roundRect">
            <a:avLst>
              <a:gd name="adj" fmla="val 7419"/>
            </a:avLst>
          </a:prstGeom>
          <a:solidFill>
            <a:srgbClr val="FFFCF4"/>
          </a:solidFill>
          <a:ln w="6350">
            <a:solidFill>
              <a:srgbClr val="E2D7BE"/>
            </a:solidFill>
            <a:prstDash val="solid"/>
          </a:ln>
        </p:spPr>
      </p:sp>
      <p:sp>
        <p:nvSpPr>
          <p:cNvPr id="14" name="Text 12"/>
          <p:cNvSpPr/>
          <p:nvPr/>
        </p:nvSpPr>
        <p:spPr>
          <a:xfrm>
            <a:off x="5415280" y="4846320"/>
            <a:ext cx="58759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E3B2A"/>
                </a:solidFill>
                <a:latin typeface="DM Sans" pitchFamily="34" charset="0"/>
                <a:ea typeface="DM Sans" pitchFamily="34" charset="-122"/>
                <a:cs typeface="DM Sans" pitchFamily="34" charset="-120"/>
              </a:rPr>
              <a:t>Le bug du plateau : cause trouvée</a:t>
            </a:r>
            <a:endParaRPr lang="en-US" sz="1800" dirty="0"/>
          </a:p>
        </p:txBody>
      </p:sp>
      <p:sp>
        <p:nvSpPr>
          <p:cNvPr id="15" name="Text 13"/>
          <p:cNvSpPr/>
          <p:nvPr/>
        </p:nvSpPr>
        <p:spPr>
          <a:xfrm>
            <a:off x="5415280" y="5171440"/>
            <a:ext cx="58759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A5446"/>
                </a:solidFill>
                <a:latin typeface="DM Sans" pitchFamily="34" charset="0"/>
                <a:ea typeface="DM Sans" pitchFamily="34" charset="-122"/>
                <a:cs typeface="DM Sans" pitchFamily="34" charset="-120"/>
              </a:rPr>
              <a:t>Le correctif est petit et passe en premier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F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Le plateau reste bloqué parce que Firebase efface les « null »</a:t>
            </a:r>
            <a:endParaRPr lang="en-US" sz="3200" dirty="0"/>
          </a:p>
        </p:txBody>
      </p:sp>
      <p:sp>
        <p:nvSpPr>
          <p:cNvPr id="3" name="Text 1"/>
          <p:cNvSpPr/>
          <p:nvPr/>
        </p:nvSpPr>
        <p:spPr>
          <a:xfrm>
            <a:off x="812800" y="2052320"/>
            <a:ext cx="5886450"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436"/>
                </a:solidFill>
                <a:latin typeface="DM Sans" pitchFamily="34" charset="0"/>
                <a:ea typeface="DM Sans" pitchFamily="34" charset="-122"/>
                <a:cs typeface="DM Sans" pitchFamily="34" charset="-120"/>
              </a:rPr>
              <a:t>Un plateau vide, ce sont 225 cases à </a:t>
            </a:r>
            <a:r>
              <a:rPr lang="en-US" sz="1600" b="1" dirty="0">
                <a:solidFill>
                  <a:srgbClr val="4A4436"/>
                </a:solidFill>
                <a:latin typeface="DM Sans" pitchFamily="34" charset="0"/>
                <a:ea typeface="DM Sans" pitchFamily="34" charset="-122"/>
                <a:cs typeface="DM Sans" pitchFamily="34" charset="-120"/>
              </a:rPr>
              <a:t>null</a:t>
            </a:r>
            <a:r>
              <a:rPr lang="en-US" sz="1600" dirty="0">
                <a:solidFill>
                  <a:srgbClr val="4A4436"/>
                </a:solidFill>
                <a:latin typeface="DM Sans" pitchFamily="34" charset="0"/>
                <a:ea typeface="DM Sans" pitchFamily="34" charset="-122"/>
                <a:cs typeface="DM Sans" pitchFamily="34" charset="-120"/>
              </a:rPr>
              <a:t>. Firebase ne stocke pas null : le plateau disparaît, et l’écran attend indéfiniment.</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834640"/>
          <a:ext cx="5704840" cy="1427480"/>
        </p:xfrm>
        <a:graphic>
          <a:graphicData uri="http://schemas.openxmlformats.org/drawingml/2006/table">
            <a:tbl>
              <a:tblPr/>
              <a:tblGrid>
                <a:gridCol w="2567178"/>
                <a:gridCol w="3137662"/>
              </a:tblGrid>
              <a:tr h="356870">
                <a:tc>
                  <a:txBody>
                    <a:bodyPr/>
                    <a:lstStyle/>
                    <a:p>
                      <a:pPr indent="0" marL="0">
                        <a:lnSpc>
                          <a:spcPts val="1820"/>
                        </a:lnSpc>
                        <a:buNone/>
                      </a:pPr>
                      <a:r>
                        <a:rPr lang="en-US" sz="1300" b="1" dirty="0">
                          <a:solidFill>
                            <a:srgbClr val="2B2A24"/>
                          </a:solidFill>
                          <a:latin typeface="DM Sans" pitchFamily="34" charset="0"/>
                          <a:ea typeface="DM Sans" pitchFamily="34" charset="-122"/>
                          <a:cs typeface="DM Sans" pitchFamily="34" charset="-120"/>
                        </a:rPr>
                        <a:t>Donnée envoyée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BAB29F"/>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AB29F"/>
                      </a:solidFill>
                      <a:prstDash val="solid"/>
                      <a:round/>
                      <a:headEnd type="none" w="med" len="med"/>
                      <a:tailEnd type="none" w="med" len="med"/>
                    </a:lnB>
                    <a:solidFill>
                      <a:srgbClr val="E9DFC6"/>
                    </a:solidFill>
                  </a:tcPr>
                </a:tc>
                <a:tc>
                  <a:txBody>
                    <a:bodyPr/>
                    <a:lstStyle/>
                    <a:p>
                      <a:pPr indent="0" marL="0">
                        <a:lnSpc>
                          <a:spcPts val="1820"/>
                        </a:lnSpc>
                        <a:buNone/>
                      </a:pPr>
                      <a:r>
                        <a:rPr lang="en-US" sz="1300" b="1" dirty="0">
                          <a:solidFill>
                            <a:srgbClr val="2B2A24"/>
                          </a:solidFill>
                          <a:latin typeface="DM Sans" pitchFamily="34" charset="0"/>
                          <a:ea typeface="DM Sans" pitchFamily="34" charset="-122"/>
                          <a:cs typeface="DM Sans" pitchFamily="34" charset="-120"/>
                        </a:rPr>
                        <a:t>Effet chez le joueur</a:t>
                      </a:r>
                      <a:endParaRPr lang="en-US" sz="1300" dirty="0">
                        <a:latin typeface="DM Sans" charset="0"/>
                        <a:ea typeface="DM Sans" charset="0"/>
                        <a:cs typeface="DM Sans" charset="0"/>
                      </a:endParaRPr>
                    </a:p>
                  </a:txBody>
                  <a:tcPr marL="57785" marR="57785" marT="57785" marB="57785" anchor="t">
                    <a:lnL w="12700" cap="flat" cmpd="sng" algn="ctr">
                      <a:solidFill>
                        <a:srgbClr val="BAB29F"/>
                      </a:solidFill>
                      <a:prstDash val="solid"/>
                      <a:round/>
                      <a:headEnd type="none" w="med" len="med"/>
                      <a:tailEnd type="none" w="med" len="med"/>
                    </a:lnL>
                    <a:lnR w="12700" cap="flat" cmpd="sng" algn="ctr">
                      <a:solidFill>
                        <a:srgbClr val="BAB29F"/>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AB29F"/>
                      </a:solidFill>
                      <a:prstDash val="solid"/>
                      <a:round/>
                      <a:headEnd type="none" w="med" len="med"/>
                      <a:tailEnd type="none" w="med" len="med"/>
                    </a:lnB>
                    <a:solidFill>
                      <a:srgbClr val="E9DFC6"/>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Plateau vide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AB29F"/>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 Chargement du plateau… » sans fin</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AB29F"/>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Plateau entamé</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Plantage sur les lignes absentes</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Chevalet vide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Erreur en fin de partie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bl>
          </a:graphicData>
        </a:graphic>
      </p:graphicFrame>
      <p:sp>
        <p:nvSpPr>
          <p:cNvPr id="5" name="Text 2"/>
          <p:cNvSpPr/>
          <p:nvPr/>
        </p:nvSpPr>
        <p:spPr>
          <a:xfrm>
            <a:off x="812800" y="4465320"/>
            <a:ext cx="58864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3"/>
                </a:solidFill>
                <a:latin typeface="DM Sans" pitchFamily="34" charset="0"/>
                <a:ea typeface="DM Sans" pitchFamily="34" charset="-122"/>
                <a:cs typeface="DM Sans" pitchFamily="34" charset="-120"/>
              </a:rPr>
              <a:t>Mes tests tournaient sans Firebase : ils passaient par le serveur, dont le JSON est intact.</a:t>
            </a:r>
            <a:endParaRPr lang="en-US" sz="1200" dirty="0"/>
          </a:p>
        </p:txBody>
      </p:sp>
      <p:sp>
        <p:nvSpPr>
          <p:cNvPr id="6" name="Shape 3"/>
          <p:cNvSpPr/>
          <p:nvPr/>
        </p:nvSpPr>
        <p:spPr>
          <a:xfrm>
            <a:off x="6934200" y="2052320"/>
            <a:ext cx="4445000" cy="3992880"/>
          </a:xfrm>
          <a:prstGeom prst="roundRect">
            <a:avLst>
              <a:gd name="adj" fmla="val 2545"/>
            </a:avLst>
          </a:prstGeom>
          <a:solidFill>
            <a:srgbClr val="1E3B2A"/>
          </a:solidFill>
          <a:ln/>
        </p:spPr>
      </p:sp>
      <p:sp>
        <p:nvSpPr>
          <p:cNvPr id="7" name="Text 4"/>
          <p:cNvSpPr/>
          <p:nvPr/>
        </p:nvSpPr>
        <p:spPr>
          <a:xfrm>
            <a:off x="7239000" y="2357120"/>
            <a:ext cx="395046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3A"/>
                </a:solidFill>
                <a:latin typeface="DM Sans" pitchFamily="34" charset="0"/>
                <a:ea typeface="DM Sans" pitchFamily="34" charset="-122"/>
                <a:cs typeface="DM Sans" pitchFamily="34" charset="-120"/>
              </a:rPr>
              <a:t>CORRECTIF · LOT 0 · ½ JOURNÉE</a:t>
            </a:r>
            <a:endParaRPr lang="en-US" sz="1200" dirty="0"/>
          </a:p>
        </p:txBody>
      </p:sp>
      <p:sp>
        <p:nvSpPr>
          <p:cNvPr id="8" name="Text 5"/>
          <p:cNvSpPr/>
          <p:nvPr/>
        </p:nvSpPr>
        <p:spPr>
          <a:xfrm>
            <a:off x="7239000" y="2697480"/>
            <a:ext cx="39504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EFDF"/>
                </a:solidFill>
                <a:latin typeface="DM Sans" pitchFamily="34" charset="0"/>
                <a:ea typeface="DM Sans" pitchFamily="34" charset="-122"/>
                <a:cs typeface="DM Sans" pitchFamily="34" charset="-120"/>
              </a:rPr>
              <a:t>1. L’état voyage en texte JSON</a:t>
            </a:r>
            <a:endParaRPr lang="en-US" sz="1600" dirty="0"/>
          </a:p>
        </p:txBody>
      </p:sp>
      <p:sp>
        <p:nvSpPr>
          <p:cNvPr id="9" name="Text 6"/>
          <p:cNvSpPr/>
          <p:nvPr/>
        </p:nvSpPr>
        <p:spPr>
          <a:xfrm>
            <a:off x="7239000" y="2979420"/>
            <a:ext cx="39504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2BF"/>
                </a:solidFill>
                <a:latin typeface="DM Sans" pitchFamily="34" charset="0"/>
                <a:ea typeface="DM Sans" pitchFamily="34" charset="-122"/>
                <a:cs typeface="DM Sans" pitchFamily="34" charset="-120"/>
              </a:rPr>
              <a:t>Firebase ne touche pas au contenu d’une chaîne</a:t>
            </a:r>
            <a:endParaRPr lang="en-US" sz="1300" dirty="0"/>
          </a:p>
        </p:txBody>
      </p:sp>
      <p:sp>
        <p:nvSpPr>
          <p:cNvPr id="10" name="Text 7"/>
          <p:cNvSpPr/>
          <p:nvPr/>
        </p:nvSpPr>
        <p:spPr>
          <a:xfrm>
            <a:off x="7239000" y="3337561"/>
            <a:ext cx="39504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EFDF"/>
                </a:solidFill>
                <a:latin typeface="DM Sans" pitchFamily="34" charset="0"/>
                <a:ea typeface="DM Sans" pitchFamily="34" charset="-122"/>
                <a:cs typeface="DM Sans" pitchFamily="34" charset="-120"/>
              </a:rPr>
              <a:t>2. Le client le décode et le complète</a:t>
            </a:r>
            <a:endParaRPr lang="en-US" sz="1600" dirty="0"/>
          </a:p>
        </p:txBody>
      </p:sp>
      <p:sp>
        <p:nvSpPr>
          <p:cNvPr id="11" name="Text 8"/>
          <p:cNvSpPr/>
          <p:nvPr/>
        </p:nvSpPr>
        <p:spPr>
          <a:xfrm>
            <a:off x="7239000" y="3619500"/>
            <a:ext cx="39504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2BF"/>
                </a:solidFill>
                <a:latin typeface="DM Sans" pitchFamily="34" charset="0"/>
                <a:ea typeface="DM Sans" pitchFamily="34" charset="-122"/>
                <a:cs typeface="DM Sans" pitchFamily="34" charset="-120"/>
              </a:rPr>
              <a:t>Plateau 15 × 15 reconstruit si un champ manque</a:t>
            </a:r>
            <a:endParaRPr lang="en-US" sz="1300" dirty="0"/>
          </a:p>
        </p:txBody>
      </p:sp>
      <p:sp>
        <p:nvSpPr>
          <p:cNvPr id="12" name="Text 9"/>
          <p:cNvSpPr/>
          <p:nvPr/>
        </p:nvSpPr>
        <p:spPr>
          <a:xfrm>
            <a:off x="7239000" y="3977641"/>
            <a:ext cx="39504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EFDF"/>
                </a:solidFill>
                <a:latin typeface="DM Sans" pitchFamily="34" charset="0"/>
                <a:ea typeface="DM Sans" pitchFamily="34" charset="-122"/>
                <a:cs typeface="DM Sans" pitchFamily="34" charset="-120"/>
              </a:rPr>
              <a:t>3. Un test imite Firebase</a:t>
            </a:r>
            <a:endParaRPr lang="en-US" sz="1600" dirty="0"/>
          </a:p>
        </p:txBody>
      </p:sp>
      <p:sp>
        <p:nvSpPr>
          <p:cNvPr id="13" name="Text 10"/>
          <p:cNvSpPr/>
          <p:nvPr/>
        </p:nvSpPr>
        <p:spPr>
          <a:xfrm>
            <a:off x="7239000" y="4259580"/>
            <a:ext cx="395046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9D2BF"/>
                </a:solidFill>
                <a:latin typeface="DM Sans" pitchFamily="34" charset="0"/>
                <a:ea typeface="DM Sans" pitchFamily="34" charset="-122"/>
                <a:cs typeface="DM Sans" pitchFamily="34" charset="-120"/>
              </a:rPr>
              <a:t>La régression ne peut plus passer inaperçue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6D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Actions en partie : rattraper le solo</a:t>
            </a:r>
            <a:endParaRPr lang="en-US" sz="3200" dirty="0"/>
          </a:p>
        </p:txBody>
      </p:sp>
      <p:sp>
        <p:nvSpPr>
          <p:cNvPr id="3" name="Text 1"/>
          <p:cNvSpPr/>
          <p:nvPr/>
        </p:nvSpPr>
        <p:spPr>
          <a:xfrm>
            <a:off x="812800" y="1584961"/>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4436"/>
                </a:solidFill>
                <a:latin typeface="DM Sans" pitchFamily="34" charset="0"/>
                <a:ea typeface="DM Sans" pitchFamily="34" charset="-122"/>
                <a:cs typeface="DM Sans" pitchFamily="34" charset="-120"/>
              </a:rPr>
              <a:t>Le serveur multijoueur n’a que cinq routes de jeu. Le lot 1 comble l’écart en 2 jours.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184401"/>
          <a:ext cx="10556240" cy="3068320"/>
        </p:xfrm>
        <a:graphic>
          <a:graphicData uri="http://schemas.openxmlformats.org/drawingml/2006/table">
            <a:tbl>
              <a:tblPr/>
              <a:tblGrid>
                <a:gridCol w="3166872"/>
                <a:gridCol w="1688998"/>
                <a:gridCol w="1477874"/>
                <a:gridCol w="4222496"/>
              </a:tblGrid>
              <a:tr h="383540">
                <a:tc>
                  <a:txBody>
                    <a:bodyPr/>
                    <a:lstStyle/>
                    <a:p>
                      <a:pPr indent="0" marL="0">
                        <a:lnSpc>
                          <a:spcPts val="1960"/>
                        </a:lnSpc>
                        <a:buNone/>
                      </a:pPr>
                      <a:r>
                        <a:rPr lang="en-US" sz="1400" b="1" dirty="0">
                          <a:solidFill>
                            <a:srgbClr val="F6EFDF"/>
                          </a:solidFill>
                          <a:latin typeface="DM Sans" pitchFamily="34" charset="0"/>
                          <a:ea typeface="DM Sans" pitchFamily="34" charset="-122"/>
                          <a:cs typeface="DM Sans" pitchFamily="34" charset="-120"/>
                        </a:rPr>
                        <a:t>Action</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c>
                  <a:txBody>
                    <a:bodyPr/>
                    <a:lstStyle/>
                    <a:p>
                      <a:pPr indent="0" marL="0">
                        <a:lnSpc>
                          <a:spcPts val="1960"/>
                        </a:lnSpc>
                        <a:buNone/>
                      </a:pPr>
                      <a:r>
                        <a:rPr lang="en-US" sz="1400" b="1" dirty="0">
                          <a:solidFill>
                            <a:srgbClr val="F6EFDF"/>
                          </a:solidFill>
                          <a:latin typeface="DM Sans" pitchFamily="34" charset="0"/>
                          <a:ea typeface="DM Sans" pitchFamily="34" charset="-122"/>
                          <a:cs typeface="DM Sans" pitchFamily="34" charset="-120"/>
                        </a:rPr>
                        <a:t>Solo</a:t>
                      </a:r>
                      <a:endParaRPr lang="en-US" sz="1400" dirty="0">
                        <a:latin typeface="DM Sans" charset="0"/>
                        <a:ea typeface="DM Sans" charset="0"/>
                        <a:cs typeface="DM Sans" charset="0"/>
                      </a:endParaRPr>
                    </a:p>
                  </a:txBody>
                  <a:tcPr marL="62230" marR="62230" marT="62230" marB="62230" anchor="t">
                    <a:lnL w="12700" cap="flat" cmpd="sng" algn="ctr">
                      <a:solidFill>
                        <a:srgbClr val="1C3225"/>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c>
                  <a:txBody>
                    <a:bodyPr/>
                    <a:lstStyle/>
                    <a:p>
                      <a:pPr indent="0" marL="0">
                        <a:lnSpc>
                          <a:spcPts val="1960"/>
                        </a:lnSpc>
                        <a:buNone/>
                      </a:pPr>
                      <a:r>
                        <a:rPr lang="en-US" sz="1400" b="1" dirty="0">
                          <a:solidFill>
                            <a:srgbClr val="F6EFDF"/>
                          </a:solidFill>
                          <a:latin typeface="DM Sans" pitchFamily="34" charset="0"/>
                          <a:ea typeface="DM Sans" pitchFamily="34" charset="-122"/>
                          <a:cs typeface="DM Sans" pitchFamily="34" charset="-120"/>
                        </a:rPr>
                        <a:t>Multi</a:t>
                      </a:r>
                      <a:endParaRPr lang="en-US" sz="1400" dirty="0">
                        <a:latin typeface="DM Sans" charset="0"/>
                        <a:ea typeface="DM Sans" charset="0"/>
                        <a:cs typeface="DM Sans" charset="0"/>
                      </a:endParaRPr>
                    </a:p>
                  </a:txBody>
                  <a:tcPr marL="62230" marR="62230" marT="62230" marB="62230" anchor="t">
                    <a:lnL w="12700" cap="flat" cmpd="sng" algn="ctr">
                      <a:solidFill>
                        <a:srgbClr val="1C3225"/>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c>
                  <a:txBody>
                    <a:bodyPr/>
                    <a:lstStyle/>
                    <a:p>
                      <a:pPr indent="0" marL="0">
                        <a:lnSpc>
                          <a:spcPts val="1960"/>
                        </a:lnSpc>
                        <a:buNone/>
                      </a:pPr>
                      <a:r>
                        <a:rPr lang="en-US" sz="1400" b="1" dirty="0">
                          <a:solidFill>
                            <a:srgbClr val="F6EFDF"/>
                          </a:solidFill>
                          <a:latin typeface="DM Sans" pitchFamily="34" charset="0"/>
                          <a:ea typeface="DM Sans" pitchFamily="34" charset="-122"/>
                          <a:cs typeface="DM Sans" pitchFamily="34" charset="-120"/>
                        </a:rPr>
                        <a:t>Proposition</a:t>
                      </a:r>
                      <a:endParaRPr lang="en-US" sz="1400" dirty="0">
                        <a:latin typeface="DM Sans" charset="0"/>
                        <a:ea typeface="DM Sans" charset="0"/>
                        <a:cs typeface="DM Sans" charset="0"/>
                      </a:endParaRPr>
                    </a:p>
                  </a:txBody>
                  <a:tcPr marL="62230" marR="62230" marT="62230" marB="62230" anchor="t">
                    <a:lnL w="12700" cap="flat" cmpd="sng" algn="ctr">
                      <a:solidFill>
                        <a:srgbClr val="1C3225"/>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Mélanger le chevalet</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Oui</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Route serveur, sans perdre le tour</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Réorganiser le chevalet</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Ordre gardé côté client</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Minuteur de tour</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Local</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Règle de partie (lot 2)</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Dernier coup surligné</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IA seule</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Champ « last_move » dans l’état</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Historique des coups</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Joueur, mots, points</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Revanche</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Nouvelle salle, mêmes règles</a:t>
                      </a:r>
                      <a:endParaRPr lang="en-US" sz="1400" dirty="0">
                        <a:latin typeface="DM Sans" charset="0"/>
                        <a:ea typeface="DM Sans" charset="0"/>
                        <a:cs typeface="DM Sans" charset="0"/>
                      </a:endParaRPr>
                    </a:p>
                  </a:txBody>
                  <a:tcPr marL="62230" marR="62230" marT="62230" marB="62230"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r>
              <a:tr h="383540">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Tutoriel</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Oui</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Non</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960"/>
                        </a:lnSpc>
                        <a:buNone/>
                      </a:pPr>
                      <a:r>
                        <a:rPr lang="en-US" sz="1400" dirty="0">
                          <a:solidFill>
                            <a:srgbClr val="2B2A24"/>
                          </a:solidFill>
                          <a:latin typeface="DM Sans" pitchFamily="34" charset="0"/>
                          <a:ea typeface="DM Sans" pitchFamily="34" charset="-122"/>
                          <a:cs typeface="DM Sans" pitchFamily="34" charset="-120"/>
                        </a:rPr>
                        <a:t>Bouton « ? » dans l’en-tête</a:t>
                      </a:r>
                      <a:endParaRPr lang="en-US" sz="1400" dirty="0">
                        <a:latin typeface="DM Sans" charset="0"/>
                        <a:ea typeface="DM Sans" charset="0"/>
                        <a:cs typeface="DM Sans" charset="0"/>
                      </a:endParaRPr>
                    </a:p>
                  </a:txBody>
                  <a:tcPr marL="62230" marR="62230" marT="62230" marB="62230"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F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L’hôte fixe les règles, l’invité les voit avant d’entrer</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95121"/>
          <a:ext cx="6720840" cy="3211830"/>
        </p:xfrm>
        <a:graphic>
          <a:graphicData uri="http://schemas.openxmlformats.org/drawingml/2006/table">
            <a:tbl>
              <a:tblPr/>
              <a:tblGrid>
                <a:gridCol w="2150669"/>
                <a:gridCol w="2957170"/>
                <a:gridCol w="1613002"/>
              </a:tblGrid>
              <a:tr h="356870">
                <a:tc>
                  <a:txBody>
                    <a:bodyPr/>
                    <a:lstStyle/>
                    <a:p>
                      <a:pPr indent="0" marL="0">
                        <a:lnSpc>
                          <a:spcPts val="1820"/>
                        </a:lnSpc>
                        <a:buNone/>
                      </a:pPr>
                      <a:r>
                        <a:rPr lang="en-US" sz="1300" b="1" dirty="0">
                          <a:solidFill>
                            <a:srgbClr val="F6EFDF"/>
                          </a:solidFill>
                          <a:latin typeface="DM Sans" pitchFamily="34" charset="0"/>
                          <a:ea typeface="DM Sans" pitchFamily="34" charset="-122"/>
                          <a:cs typeface="DM Sans" pitchFamily="34" charset="-120"/>
                        </a:rPr>
                        <a:t>Règle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c>
                  <a:txBody>
                    <a:bodyPr/>
                    <a:lstStyle/>
                    <a:p>
                      <a:pPr indent="0" marL="0">
                        <a:lnSpc>
                          <a:spcPts val="1820"/>
                        </a:lnSpc>
                        <a:buNone/>
                      </a:pPr>
                      <a:r>
                        <a:rPr lang="en-US" sz="1300" b="1" dirty="0">
                          <a:solidFill>
                            <a:srgbClr val="F6EFDF"/>
                          </a:solidFill>
                          <a:latin typeface="DM Sans" pitchFamily="34" charset="0"/>
                          <a:ea typeface="DM Sans" pitchFamily="34" charset="-122"/>
                          <a:cs typeface="DM Sans" pitchFamily="34" charset="-120"/>
                        </a:rPr>
                        <a:t>Valeurs</a:t>
                      </a:r>
                      <a:endParaRPr lang="en-US" sz="1300" dirty="0">
                        <a:latin typeface="DM Sans" charset="0"/>
                        <a:ea typeface="DM Sans" charset="0"/>
                        <a:cs typeface="DM Sans" charset="0"/>
                      </a:endParaRPr>
                    </a:p>
                  </a:txBody>
                  <a:tcPr marL="57785" marR="57785" marT="57785" marB="57785" anchor="t">
                    <a:lnL w="12700" cap="flat" cmpd="sng" algn="ctr">
                      <a:solidFill>
                        <a:srgbClr val="1C3225"/>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c>
                  <a:txBody>
                    <a:bodyPr/>
                    <a:lstStyle/>
                    <a:p>
                      <a:pPr indent="0" marL="0">
                        <a:lnSpc>
                          <a:spcPts val="1820"/>
                        </a:lnSpc>
                        <a:buNone/>
                      </a:pPr>
                      <a:r>
                        <a:rPr lang="en-US" sz="1300" b="1" dirty="0">
                          <a:solidFill>
                            <a:srgbClr val="F6EFDF"/>
                          </a:solidFill>
                          <a:latin typeface="DM Sans" pitchFamily="34" charset="0"/>
                          <a:ea typeface="DM Sans" pitchFamily="34" charset="-122"/>
                          <a:cs typeface="DM Sans" pitchFamily="34" charset="-120"/>
                        </a:rPr>
                        <a:t>Par défaut</a:t>
                      </a:r>
                      <a:endParaRPr lang="en-US" sz="1300" dirty="0">
                        <a:latin typeface="DM Sans" charset="0"/>
                        <a:ea typeface="DM Sans" charset="0"/>
                        <a:cs typeface="DM Sans" charset="0"/>
                      </a:endParaRPr>
                    </a:p>
                  </a:txBody>
                  <a:tcPr marL="57785" marR="57785" marT="57785" marB="57785" anchor="t">
                    <a:lnL w="12700" cap="flat" cmpd="sng" algn="ctr">
                      <a:solidFill>
                        <a:srgbClr val="1C3225"/>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Visibilité</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Publique · Privée · Amis</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Privée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Minuteur par tour</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Aucun, de 30 s à 5 min</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Aucun</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Temps écoulé</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Passe · Défaite après 3</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Passe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Échanges</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Autorisés · Interdits</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Autorisés</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Aperçu du score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Affiché · Masqué</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Affiché</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Vérifier un mot</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Autorisé · Interdit</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Interdit</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Fin par passes</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4 · 6 passes</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6</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Score à atteindre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Aucun · 150 · 250 · 400</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Aucun</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solidFill>
                      <a:srgbClr val="EFE6D0"/>
                    </a:solidFill>
                  </a:tcPr>
                </a:tc>
              </a:tr>
            </a:tbl>
          </a:graphicData>
        </a:graphic>
      </p:graphicFrame>
      <p:sp>
        <p:nvSpPr>
          <p:cNvPr id="4" name="Shape 1"/>
          <p:cNvSpPr/>
          <p:nvPr/>
        </p:nvSpPr>
        <p:spPr>
          <a:xfrm>
            <a:off x="7899400" y="1584961"/>
            <a:ext cx="3479800" cy="3199130"/>
          </a:xfrm>
          <a:prstGeom prst="roundRect">
            <a:avLst>
              <a:gd name="adj" fmla="val 3176"/>
            </a:avLst>
          </a:prstGeom>
          <a:solidFill>
            <a:srgbClr val="1E3B2A"/>
          </a:solidFill>
          <a:ln/>
        </p:spPr>
      </p:sp>
      <p:sp>
        <p:nvSpPr>
          <p:cNvPr id="5" name="Text 2"/>
          <p:cNvSpPr/>
          <p:nvPr/>
        </p:nvSpPr>
        <p:spPr>
          <a:xfrm>
            <a:off x="8178800" y="1864361"/>
            <a:ext cx="300863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3A"/>
                </a:solidFill>
                <a:latin typeface="DM Sans" pitchFamily="34" charset="0"/>
                <a:ea typeface="DM Sans" pitchFamily="34" charset="-122"/>
                <a:cs typeface="DM Sans" pitchFamily="34" charset="-120"/>
              </a:rPr>
              <a:t>LE MINUTEUR</a:t>
            </a:r>
            <a:endParaRPr lang="en-US" sz="1200" dirty="0"/>
          </a:p>
        </p:txBody>
      </p:sp>
      <p:sp>
        <p:nvSpPr>
          <p:cNvPr id="6" name="Text 3"/>
          <p:cNvSpPr/>
          <p:nvPr/>
        </p:nvSpPr>
        <p:spPr>
          <a:xfrm>
            <a:off x="8178800" y="2204721"/>
            <a:ext cx="3008630"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EFDF"/>
                </a:solidFill>
                <a:latin typeface="Playfair Display" pitchFamily="18" charset="0"/>
                <a:ea typeface="Playfair Display" pitchFamily="18" charset="-122"/>
                <a:cs typeface="Playfair Display" pitchFamily="18" charset="-120"/>
              </a:rPr>
              <a:t>Tenu par le serveur, pas par l’écran</a:t>
            </a:r>
            <a:endParaRPr lang="en-US" sz="2000" dirty="0"/>
          </a:p>
        </p:txBody>
      </p:sp>
      <p:sp>
        <p:nvSpPr>
          <p:cNvPr id="7" name="Text 4"/>
          <p:cNvSpPr/>
          <p:nvPr/>
        </p:nvSpPr>
        <p:spPr>
          <a:xfrm>
            <a:off x="8178800" y="2941321"/>
            <a:ext cx="3008630" cy="98298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9D2BF"/>
                </a:solidFill>
                <a:latin typeface="DM Sans" pitchFamily="34" charset="0"/>
                <a:ea typeface="DM Sans" pitchFamily="34" charset="-122"/>
                <a:cs typeface="DM Sans" pitchFamily="34" charset="-120"/>
              </a:rPr>
              <a:t>L’échéance du tour est stockée en base. Une tâche de fond joue la passe automatique dès qu’elle est dépassée.</a:t>
            </a:r>
            <a:endParaRPr lang="en-US" sz="1300" dirty="0"/>
          </a:p>
        </p:txBody>
      </p:sp>
      <p:sp>
        <p:nvSpPr>
          <p:cNvPr id="8" name="Text 5"/>
          <p:cNvSpPr/>
          <p:nvPr/>
        </p:nvSpPr>
        <p:spPr>
          <a:xfrm>
            <a:off x="8178800" y="4025900"/>
            <a:ext cx="3008630"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D9D2BF"/>
                </a:solidFill>
                <a:latin typeface="DM Sans" pitchFamily="34" charset="0"/>
                <a:ea typeface="DM Sans" pitchFamily="34" charset="-122"/>
                <a:cs typeface="DM Sans" pitchFamily="34" charset="-120"/>
              </a:rPr>
              <a:t>Fermer l’onglet ne contourne donc rien.</a:t>
            </a:r>
            <a:endParaRPr lang="en-US" sz="1300" dirty="0"/>
          </a:p>
        </p:txBody>
      </p:sp>
      <p:sp>
        <p:nvSpPr>
          <p:cNvPr id="9" name="Text 6"/>
          <p:cNvSpPr/>
          <p:nvPr/>
        </p:nvSpPr>
        <p:spPr>
          <a:xfrm>
            <a:off x="812800" y="511175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3"/>
                </a:solidFill>
                <a:latin typeface="DM Sans" pitchFamily="34" charset="0"/>
                <a:ea typeface="DM Sans" pitchFamily="34" charset="-122"/>
                <a:cs typeface="DM Sans" pitchFamily="34" charset="-120"/>
              </a:rPr>
              <a:t>Chantiers à part : dictionnaire anglais, parties à 3 ou 4 joueurs.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6D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Salons publics : la liste des salles en attente, en direct</a:t>
            </a:r>
            <a:endParaRPr lang="en-US" sz="3200" dirty="0"/>
          </a:p>
        </p:txBody>
      </p:sp>
      <p:sp>
        <p:nvSpPr>
          <p:cNvPr id="3" name="Shape 1"/>
          <p:cNvSpPr/>
          <p:nvPr/>
        </p:nvSpPr>
        <p:spPr>
          <a:xfrm>
            <a:off x="815975" y="1638936"/>
            <a:ext cx="2540000" cy="1906270"/>
          </a:xfrm>
          <a:prstGeom prst="roundRect">
            <a:avLst>
              <a:gd name="adj" fmla="val 3831"/>
            </a:avLst>
          </a:prstGeom>
          <a:solidFill>
            <a:srgbClr val="FFFCF4"/>
          </a:solidFill>
          <a:ln w="6350">
            <a:solidFill>
              <a:srgbClr val="E2D7BE"/>
            </a:solidFill>
            <a:prstDash val="solid"/>
          </a:ln>
        </p:spPr>
      </p:sp>
      <p:sp>
        <p:nvSpPr>
          <p:cNvPr id="4" name="Text 2"/>
          <p:cNvSpPr/>
          <p:nvPr/>
        </p:nvSpPr>
        <p:spPr>
          <a:xfrm>
            <a:off x="1046480" y="1869439"/>
            <a:ext cx="21413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C9A43A"/>
                </a:solidFill>
                <a:latin typeface="Playfair Display" pitchFamily="18" charset="0"/>
                <a:ea typeface="Playfair Display" pitchFamily="18" charset="-122"/>
                <a:cs typeface="Playfair Display" pitchFamily="18" charset="-120"/>
              </a:rPr>
              <a:t>1</a:t>
            </a:r>
            <a:endParaRPr lang="en-US" sz="2800" dirty="0"/>
          </a:p>
        </p:txBody>
      </p:sp>
      <p:sp>
        <p:nvSpPr>
          <p:cNvPr id="5" name="Text 3"/>
          <p:cNvSpPr/>
          <p:nvPr/>
        </p:nvSpPr>
        <p:spPr>
          <a:xfrm>
            <a:off x="1046480" y="2301239"/>
            <a:ext cx="21413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Publication</a:t>
            </a:r>
            <a:endParaRPr lang="en-US" sz="1600" dirty="0"/>
          </a:p>
        </p:txBody>
      </p:sp>
      <p:sp>
        <p:nvSpPr>
          <p:cNvPr id="6" name="Text 4"/>
          <p:cNvSpPr/>
          <p:nvPr/>
        </p:nvSpPr>
        <p:spPr>
          <a:xfrm>
            <a:off x="1046480" y="2621282"/>
            <a:ext cx="21413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Le serveur ajoute une fiche dans le lobby : nom, hôte, règles</a:t>
            </a:r>
            <a:endParaRPr lang="en-US" sz="1300" dirty="0"/>
          </a:p>
        </p:txBody>
      </p:sp>
      <p:sp>
        <p:nvSpPr>
          <p:cNvPr id="7" name="Shape 5"/>
          <p:cNvSpPr/>
          <p:nvPr/>
        </p:nvSpPr>
        <p:spPr>
          <a:xfrm>
            <a:off x="3489325" y="1638936"/>
            <a:ext cx="2540000" cy="1906270"/>
          </a:xfrm>
          <a:prstGeom prst="roundRect">
            <a:avLst>
              <a:gd name="adj" fmla="val 3831"/>
            </a:avLst>
          </a:prstGeom>
          <a:solidFill>
            <a:srgbClr val="FFFCF4"/>
          </a:solidFill>
          <a:ln w="6350">
            <a:solidFill>
              <a:srgbClr val="E2D7BE"/>
            </a:solidFill>
            <a:prstDash val="solid"/>
          </a:ln>
        </p:spPr>
      </p:sp>
      <p:sp>
        <p:nvSpPr>
          <p:cNvPr id="8" name="Text 6"/>
          <p:cNvSpPr/>
          <p:nvPr/>
        </p:nvSpPr>
        <p:spPr>
          <a:xfrm>
            <a:off x="3719830" y="1869439"/>
            <a:ext cx="21413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C9A43A"/>
                </a:solidFill>
                <a:latin typeface="Playfair Display" pitchFamily="18" charset="0"/>
                <a:ea typeface="Playfair Display" pitchFamily="18" charset="-122"/>
                <a:cs typeface="Playfair Display" pitchFamily="18" charset="-120"/>
              </a:rPr>
              <a:t>2</a:t>
            </a:r>
            <a:endParaRPr lang="en-US" sz="2800" dirty="0"/>
          </a:p>
        </p:txBody>
      </p:sp>
      <p:sp>
        <p:nvSpPr>
          <p:cNvPr id="9" name="Text 7"/>
          <p:cNvSpPr/>
          <p:nvPr/>
        </p:nvSpPr>
        <p:spPr>
          <a:xfrm>
            <a:off x="3719830" y="2301239"/>
            <a:ext cx="21413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Lecture</a:t>
            </a:r>
            <a:endParaRPr lang="en-US" sz="1600" dirty="0"/>
          </a:p>
        </p:txBody>
      </p:sp>
      <p:sp>
        <p:nvSpPr>
          <p:cNvPr id="10" name="Text 8"/>
          <p:cNvSpPr/>
          <p:nvPr/>
        </p:nvSpPr>
        <p:spPr>
          <a:xfrm>
            <a:off x="3719830" y="2621282"/>
            <a:ext cx="21413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Le lobby affiche 50 salles au plus, avec des filtres</a:t>
            </a:r>
            <a:endParaRPr lang="en-US" sz="1300" dirty="0"/>
          </a:p>
        </p:txBody>
      </p:sp>
      <p:sp>
        <p:nvSpPr>
          <p:cNvPr id="11" name="Shape 9"/>
          <p:cNvSpPr/>
          <p:nvPr/>
        </p:nvSpPr>
        <p:spPr>
          <a:xfrm>
            <a:off x="6162675" y="1638936"/>
            <a:ext cx="2540000" cy="1906270"/>
          </a:xfrm>
          <a:prstGeom prst="roundRect">
            <a:avLst>
              <a:gd name="adj" fmla="val 3831"/>
            </a:avLst>
          </a:prstGeom>
          <a:solidFill>
            <a:srgbClr val="FFFCF4"/>
          </a:solidFill>
          <a:ln w="6350">
            <a:solidFill>
              <a:srgbClr val="E2D7BE"/>
            </a:solidFill>
            <a:prstDash val="solid"/>
          </a:ln>
        </p:spPr>
      </p:sp>
      <p:sp>
        <p:nvSpPr>
          <p:cNvPr id="12" name="Text 10"/>
          <p:cNvSpPr/>
          <p:nvPr/>
        </p:nvSpPr>
        <p:spPr>
          <a:xfrm>
            <a:off x="6393180" y="1869439"/>
            <a:ext cx="21413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C9A43A"/>
                </a:solidFill>
                <a:latin typeface="Playfair Display" pitchFamily="18" charset="0"/>
                <a:ea typeface="Playfair Display" pitchFamily="18" charset="-122"/>
                <a:cs typeface="Playfair Display" pitchFamily="18" charset="-120"/>
              </a:rPr>
              <a:t>3</a:t>
            </a:r>
            <a:endParaRPr lang="en-US" sz="2800" dirty="0"/>
          </a:p>
        </p:txBody>
      </p:sp>
      <p:sp>
        <p:nvSpPr>
          <p:cNvPr id="13" name="Text 11"/>
          <p:cNvSpPr/>
          <p:nvPr/>
        </p:nvSpPr>
        <p:spPr>
          <a:xfrm>
            <a:off x="6393180" y="2301239"/>
            <a:ext cx="21413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Aperçu</a:t>
            </a:r>
            <a:endParaRPr lang="en-US" sz="1600" dirty="0"/>
          </a:p>
        </p:txBody>
      </p:sp>
      <p:sp>
        <p:nvSpPr>
          <p:cNvPr id="14" name="Text 12"/>
          <p:cNvSpPr/>
          <p:nvPr/>
        </p:nvSpPr>
        <p:spPr>
          <a:xfrm>
            <a:off x="6393180" y="2621282"/>
            <a:ext cx="214136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Un clic montre les règles, puis « Rejoindre »</a:t>
            </a:r>
            <a:endParaRPr lang="en-US" sz="1300" dirty="0"/>
          </a:p>
        </p:txBody>
      </p:sp>
      <p:sp>
        <p:nvSpPr>
          <p:cNvPr id="15" name="Shape 13"/>
          <p:cNvSpPr/>
          <p:nvPr/>
        </p:nvSpPr>
        <p:spPr>
          <a:xfrm>
            <a:off x="8836025" y="1638936"/>
            <a:ext cx="2540000" cy="1906270"/>
          </a:xfrm>
          <a:prstGeom prst="roundRect">
            <a:avLst>
              <a:gd name="adj" fmla="val 3831"/>
            </a:avLst>
          </a:prstGeom>
          <a:solidFill>
            <a:srgbClr val="FFFCF4"/>
          </a:solidFill>
          <a:ln w="6350">
            <a:solidFill>
              <a:srgbClr val="E2D7BE"/>
            </a:solidFill>
            <a:prstDash val="solid"/>
          </a:ln>
        </p:spPr>
      </p:sp>
      <p:sp>
        <p:nvSpPr>
          <p:cNvPr id="16" name="Text 14"/>
          <p:cNvSpPr/>
          <p:nvPr/>
        </p:nvSpPr>
        <p:spPr>
          <a:xfrm>
            <a:off x="9066530" y="1869439"/>
            <a:ext cx="214136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C9A43A"/>
                </a:solidFill>
                <a:latin typeface="Playfair Display" pitchFamily="18" charset="0"/>
                <a:ea typeface="Playfair Display" pitchFamily="18" charset="-122"/>
                <a:cs typeface="Playfair Display" pitchFamily="18" charset="-120"/>
              </a:rPr>
              <a:t>4</a:t>
            </a:r>
            <a:endParaRPr lang="en-US" sz="2800" dirty="0"/>
          </a:p>
        </p:txBody>
      </p:sp>
      <p:sp>
        <p:nvSpPr>
          <p:cNvPr id="17" name="Text 15"/>
          <p:cNvSpPr/>
          <p:nvPr/>
        </p:nvSpPr>
        <p:spPr>
          <a:xfrm>
            <a:off x="9066530" y="2301239"/>
            <a:ext cx="21413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Retrait</a:t>
            </a:r>
            <a:endParaRPr lang="en-US" sz="1600" dirty="0"/>
          </a:p>
        </p:txBody>
      </p:sp>
      <p:sp>
        <p:nvSpPr>
          <p:cNvPr id="18" name="Text 16"/>
          <p:cNvSpPr/>
          <p:nvPr/>
        </p:nvSpPr>
        <p:spPr>
          <a:xfrm>
            <a:off x="9066530" y="2621282"/>
            <a:ext cx="214136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La fiche disparaît dès que la salle est pleine ou annulée</a:t>
            </a:r>
            <a:endParaRPr lang="en-US" sz="1300" dirty="0"/>
          </a:p>
        </p:txBody>
      </p:sp>
      <p:sp>
        <p:nvSpPr>
          <p:cNvPr id="19" name="Shape 17"/>
          <p:cNvSpPr/>
          <p:nvPr/>
        </p:nvSpPr>
        <p:spPr>
          <a:xfrm>
            <a:off x="831850" y="3903982"/>
            <a:ext cx="0" cy="843280"/>
          </a:xfrm>
          <a:prstGeom prst="line">
            <a:avLst/>
          </a:prstGeom>
          <a:noFill/>
          <a:ln w="38100">
            <a:solidFill>
              <a:srgbClr val="1E3B2A"/>
            </a:solidFill>
            <a:prstDash val="solid"/>
          </a:ln>
        </p:spPr>
      </p:sp>
      <p:sp>
        <p:nvSpPr>
          <p:cNvPr id="20" name="Text 18"/>
          <p:cNvSpPr/>
          <p:nvPr/>
        </p:nvSpPr>
        <p:spPr>
          <a:xfrm>
            <a:off x="1026160" y="3954782"/>
            <a:ext cx="50911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3B2A"/>
                </a:solidFill>
                <a:latin typeface="DM Sans" pitchFamily="34" charset="0"/>
                <a:ea typeface="DM Sans" pitchFamily="34" charset="-122"/>
                <a:cs typeface="DM Sans" pitchFamily="34" charset="-120"/>
              </a:rPr>
              <a:t>Deux joueurs sur la même salle</a:t>
            </a:r>
            <a:endParaRPr lang="en-US" sz="1500" dirty="0"/>
          </a:p>
        </p:txBody>
      </p:sp>
      <p:sp>
        <p:nvSpPr>
          <p:cNvPr id="21" name="Text 19"/>
          <p:cNvSpPr/>
          <p:nvPr/>
        </p:nvSpPr>
        <p:spPr>
          <a:xfrm>
            <a:off x="1026160" y="4234182"/>
            <a:ext cx="509112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436"/>
                </a:solidFill>
                <a:latin typeface="DM Sans" pitchFamily="34" charset="0"/>
                <a:ea typeface="DM Sans" pitchFamily="34" charset="-122"/>
                <a:cs typeface="DM Sans" pitchFamily="34" charset="-120"/>
              </a:rPr>
              <a:t>Le premier entre ; le second est prévenu que la salle vient d’être complétée.</a:t>
            </a:r>
            <a:endParaRPr lang="en-US" sz="1300" dirty="0"/>
          </a:p>
        </p:txBody>
      </p:sp>
      <p:sp>
        <p:nvSpPr>
          <p:cNvPr id="22" name="Shape 20"/>
          <p:cNvSpPr/>
          <p:nvPr/>
        </p:nvSpPr>
        <p:spPr>
          <a:xfrm>
            <a:off x="6242050" y="3903982"/>
            <a:ext cx="0" cy="843280"/>
          </a:xfrm>
          <a:prstGeom prst="line">
            <a:avLst/>
          </a:prstGeom>
          <a:noFill/>
          <a:ln w="38100">
            <a:solidFill>
              <a:srgbClr val="1E3B2A"/>
            </a:solidFill>
            <a:prstDash val="solid"/>
          </a:ln>
        </p:spPr>
      </p:sp>
      <p:sp>
        <p:nvSpPr>
          <p:cNvPr id="23" name="Text 21"/>
          <p:cNvSpPr/>
          <p:nvPr/>
        </p:nvSpPr>
        <p:spPr>
          <a:xfrm>
            <a:off x="6436360" y="3954782"/>
            <a:ext cx="509112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3B2A"/>
                </a:solidFill>
                <a:latin typeface="DM Sans" pitchFamily="34" charset="0"/>
                <a:ea typeface="DM Sans" pitchFamily="34" charset="-122"/>
                <a:cs typeface="DM Sans" pitchFamily="34" charset="-120"/>
              </a:rPr>
              <a:t>Firebase injoignable</a:t>
            </a:r>
            <a:endParaRPr lang="en-US" sz="1500" dirty="0"/>
          </a:p>
        </p:txBody>
      </p:sp>
      <p:sp>
        <p:nvSpPr>
          <p:cNvPr id="24" name="Text 22"/>
          <p:cNvSpPr/>
          <p:nvPr/>
        </p:nvSpPr>
        <p:spPr>
          <a:xfrm>
            <a:off x="6436360" y="4234182"/>
            <a:ext cx="509112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4436"/>
                </a:solidFill>
                <a:latin typeface="DM Sans" pitchFamily="34" charset="0"/>
                <a:ea typeface="DM Sans" pitchFamily="34" charset="-122"/>
                <a:cs typeface="DM Sans" pitchFamily="34" charset="-120"/>
              </a:rPr>
              <a:t>Une route REST renvoie la même liste, interrogée toutes les 10 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EF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Messagerie : quatre sortes de conversations, un seul circuit</a:t>
            </a:r>
            <a:endParaRPr lang="en-US" sz="3200" dirty="0"/>
          </a:p>
        </p:txBody>
      </p:sp>
      <p:sp>
        <p:nvSpPr>
          <p:cNvPr id="3" name="Shape 1"/>
          <p:cNvSpPr/>
          <p:nvPr/>
        </p:nvSpPr>
        <p:spPr>
          <a:xfrm>
            <a:off x="815975" y="2055496"/>
            <a:ext cx="2540000" cy="1179830"/>
          </a:xfrm>
          <a:prstGeom prst="roundRect">
            <a:avLst>
              <a:gd name="adj" fmla="val 6189"/>
            </a:avLst>
          </a:prstGeom>
          <a:solidFill>
            <a:srgbClr val="FFFCF4"/>
          </a:solidFill>
          <a:ln w="6350">
            <a:solidFill>
              <a:srgbClr val="E2D7BE"/>
            </a:solidFill>
            <a:prstDash val="solid"/>
          </a:ln>
        </p:spPr>
      </p:sp>
      <p:sp>
        <p:nvSpPr>
          <p:cNvPr id="4" name="Text 2"/>
          <p:cNvSpPr/>
          <p:nvPr/>
        </p:nvSpPr>
        <p:spPr>
          <a:xfrm>
            <a:off x="1021080" y="2260600"/>
            <a:ext cx="2193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Privée</a:t>
            </a:r>
            <a:endParaRPr lang="en-US" sz="1600" dirty="0"/>
          </a:p>
        </p:txBody>
      </p:sp>
      <p:sp>
        <p:nvSpPr>
          <p:cNvPr id="5" name="Text 3"/>
          <p:cNvSpPr/>
          <p:nvPr/>
        </p:nvSpPr>
        <p:spPr>
          <a:xfrm>
            <a:off x="1021080" y="2567939"/>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2 personnes · gardée jusqu’à suppression</a:t>
            </a:r>
            <a:endParaRPr lang="en-US" sz="1300" dirty="0"/>
          </a:p>
        </p:txBody>
      </p:sp>
      <p:sp>
        <p:nvSpPr>
          <p:cNvPr id="6" name="Shape 4"/>
          <p:cNvSpPr/>
          <p:nvPr/>
        </p:nvSpPr>
        <p:spPr>
          <a:xfrm>
            <a:off x="3489325" y="2055496"/>
            <a:ext cx="2540000" cy="1179830"/>
          </a:xfrm>
          <a:prstGeom prst="roundRect">
            <a:avLst>
              <a:gd name="adj" fmla="val 6189"/>
            </a:avLst>
          </a:prstGeom>
          <a:solidFill>
            <a:srgbClr val="FFFCF4"/>
          </a:solidFill>
          <a:ln w="6350">
            <a:solidFill>
              <a:srgbClr val="E2D7BE"/>
            </a:solidFill>
            <a:prstDash val="solid"/>
          </a:ln>
        </p:spPr>
      </p:sp>
      <p:sp>
        <p:nvSpPr>
          <p:cNvPr id="7" name="Text 5"/>
          <p:cNvSpPr/>
          <p:nvPr/>
        </p:nvSpPr>
        <p:spPr>
          <a:xfrm>
            <a:off x="3694430" y="2260600"/>
            <a:ext cx="2193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De groupe</a:t>
            </a:r>
            <a:endParaRPr lang="en-US" sz="1600" dirty="0"/>
          </a:p>
        </p:txBody>
      </p:sp>
      <p:sp>
        <p:nvSpPr>
          <p:cNvPr id="8" name="Text 6"/>
          <p:cNvSpPr/>
          <p:nvPr/>
        </p:nvSpPr>
        <p:spPr>
          <a:xfrm>
            <a:off x="3694430" y="2567939"/>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3 personnes ou plus, un nom, un propriétaire</a:t>
            </a:r>
            <a:endParaRPr lang="en-US" sz="1300" dirty="0"/>
          </a:p>
        </p:txBody>
      </p:sp>
      <p:sp>
        <p:nvSpPr>
          <p:cNvPr id="9" name="Shape 7"/>
          <p:cNvSpPr/>
          <p:nvPr/>
        </p:nvSpPr>
        <p:spPr>
          <a:xfrm>
            <a:off x="6162675" y="2055496"/>
            <a:ext cx="2540000" cy="1179830"/>
          </a:xfrm>
          <a:prstGeom prst="roundRect">
            <a:avLst>
              <a:gd name="adj" fmla="val 6189"/>
            </a:avLst>
          </a:prstGeom>
          <a:solidFill>
            <a:srgbClr val="FFFCF4"/>
          </a:solidFill>
          <a:ln w="6350">
            <a:solidFill>
              <a:srgbClr val="E2D7BE"/>
            </a:solidFill>
            <a:prstDash val="solid"/>
          </a:ln>
        </p:spPr>
      </p:sp>
      <p:sp>
        <p:nvSpPr>
          <p:cNvPr id="10" name="Text 8"/>
          <p:cNvSpPr/>
          <p:nvPr/>
        </p:nvSpPr>
        <p:spPr>
          <a:xfrm>
            <a:off x="6367780" y="2260600"/>
            <a:ext cx="2193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Universelle</a:t>
            </a:r>
            <a:endParaRPr lang="en-US" sz="1600" dirty="0"/>
          </a:p>
        </p:txBody>
      </p:sp>
      <p:sp>
        <p:nvSpPr>
          <p:cNvPr id="11" name="Text 9"/>
          <p:cNvSpPr/>
          <p:nvPr/>
        </p:nvSpPr>
        <p:spPr>
          <a:xfrm>
            <a:off x="6367780" y="2567939"/>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Tous les joueurs · messages gardés 30 jours</a:t>
            </a:r>
            <a:endParaRPr lang="en-US" sz="1300" dirty="0"/>
          </a:p>
        </p:txBody>
      </p:sp>
      <p:sp>
        <p:nvSpPr>
          <p:cNvPr id="12" name="Shape 10"/>
          <p:cNvSpPr/>
          <p:nvPr/>
        </p:nvSpPr>
        <p:spPr>
          <a:xfrm>
            <a:off x="8836025" y="2055496"/>
            <a:ext cx="2540000" cy="1179830"/>
          </a:xfrm>
          <a:prstGeom prst="roundRect">
            <a:avLst>
              <a:gd name="adj" fmla="val 6189"/>
            </a:avLst>
          </a:prstGeom>
          <a:solidFill>
            <a:srgbClr val="FFFCF4"/>
          </a:solidFill>
          <a:ln w="6350">
            <a:solidFill>
              <a:srgbClr val="E2D7BE"/>
            </a:solidFill>
            <a:prstDash val="solid"/>
          </a:ln>
        </p:spPr>
      </p:sp>
      <p:sp>
        <p:nvSpPr>
          <p:cNvPr id="13" name="Text 11"/>
          <p:cNvSpPr/>
          <p:nvPr/>
        </p:nvSpPr>
        <p:spPr>
          <a:xfrm>
            <a:off x="9041130" y="2260600"/>
            <a:ext cx="219368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3B2A"/>
                </a:solidFill>
                <a:latin typeface="DM Sans" pitchFamily="34" charset="0"/>
                <a:ea typeface="DM Sans" pitchFamily="34" charset="-122"/>
                <a:cs typeface="DM Sans" pitchFamily="34" charset="-120"/>
              </a:rPr>
              <a:t>De partie</a:t>
            </a:r>
            <a:endParaRPr lang="en-US" sz="1600" dirty="0"/>
          </a:p>
        </p:txBody>
      </p:sp>
      <p:sp>
        <p:nvSpPr>
          <p:cNvPr id="14" name="Text 12"/>
          <p:cNvSpPr/>
          <p:nvPr/>
        </p:nvSpPr>
        <p:spPr>
          <a:xfrm>
            <a:off x="9041130" y="2567939"/>
            <a:ext cx="21936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A5446"/>
                </a:solidFill>
                <a:latin typeface="DM Sans" pitchFamily="34" charset="0"/>
                <a:ea typeface="DM Sans" pitchFamily="34" charset="-122"/>
                <a:cs typeface="DM Sans" pitchFamily="34" charset="-120"/>
              </a:rPr>
              <a:t>Les 2 joueurs · créée avec la salle</a:t>
            </a:r>
            <a:endParaRPr lang="en-US" sz="1300" dirty="0"/>
          </a:p>
        </p:txBody>
      </p:sp>
      <p:sp>
        <p:nvSpPr>
          <p:cNvPr id="15" name="Text 13"/>
          <p:cNvSpPr/>
          <p:nvPr/>
        </p:nvSpPr>
        <p:spPr>
          <a:xfrm>
            <a:off x="812800" y="3543300"/>
            <a:ext cx="796528" cy="477520"/>
          </a:xfrm>
          <a:prstGeom prst="roundRect">
            <a:avLst>
              <a:gd name="adj" fmla="val 13298"/>
            </a:avLst>
          </a:prstGeom>
          <a:solidFill>
            <a:srgbClr val="1E3B2A"/>
          </a:solidFill>
          <a:ln/>
        </p:spPr>
        <p:txBody>
          <a:bodyPr wrap="none" lIns="0" tIns="0" rIns="0" bIns="0" rtlCol="0" anchor="ctr">
            <a:normAutofit/>
          </a:bodyPr>
          <a:lstStyle/>
          <a:p>
            <a:pPr algn="ctr" indent="0" marL="0">
              <a:lnSpc>
                <a:spcPts val="1960"/>
              </a:lnSpc>
              <a:buNone/>
            </a:pPr>
            <a:r>
              <a:rPr lang="en-US" sz="1400" b="1" dirty="0">
                <a:solidFill>
                  <a:srgbClr val="F6EFDF"/>
                </a:solidFill>
                <a:latin typeface="DM Sans" pitchFamily="34" charset="0"/>
                <a:ea typeface="DM Sans" pitchFamily="34" charset="-122"/>
                <a:cs typeface="DM Sans" pitchFamily="34" charset="-120"/>
              </a:rPr>
              <a:t>Envoi</a:t>
            </a:r>
            <a:endParaRPr lang="en-US" sz="1400" dirty="0"/>
          </a:p>
        </p:txBody>
      </p:sp>
      <p:pic>
        <p:nvPicPr>
          <p:cNvPr id="16" name="Image 0" descr="arrow-right">    </p:cNvPr>
          <p:cNvPicPr>
            <a:picLocks noChangeAspect="1"/>
          </p:cNvPicPr>
          <p:nvPr/>
        </p:nvPicPr>
        <p:blipFill>
          <a:blip r:embed="rId1"/>
          <a:srcRect l="0" r="0" t="0" b="0"/>
          <a:stretch/>
        </p:blipFill>
        <p:spPr>
          <a:xfrm>
            <a:off x="1710928" y="3693161"/>
            <a:ext cx="355600" cy="177800"/>
          </a:xfrm>
          <a:prstGeom prst="rect">
            <a:avLst/>
          </a:prstGeom>
        </p:spPr>
      </p:pic>
      <p:sp>
        <p:nvSpPr>
          <p:cNvPr id="17" name="Text 14"/>
          <p:cNvSpPr/>
          <p:nvPr/>
        </p:nvSpPr>
        <p:spPr>
          <a:xfrm>
            <a:off x="2168128" y="3543300"/>
            <a:ext cx="1337231" cy="477520"/>
          </a:xfrm>
          <a:prstGeom prst="roundRect">
            <a:avLst>
              <a:gd name="adj" fmla="val 13298"/>
            </a:avLst>
          </a:prstGeom>
          <a:solidFill>
            <a:srgbClr val="1E3B2A"/>
          </a:solidFill>
          <a:ln/>
        </p:spPr>
        <p:txBody>
          <a:bodyPr wrap="none" lIns="0" tIns="0" rIns="0" bIns="0" rtlCol="0" anchor="ctr">
            <a:normAutofit/>
          </a:bodyPr>
          <a:lstStyle/>
          <a:p>
            <a:pPr algn="ctr" indent="0" marL="0">
              <a:lnSpc>
                <a:spcPts val="1960"/>
              </a:lnSpc>
              <a:buNone/>
            </a:pPr>
            <a:r>
              <a:rPr lang="en-US" sz="1400" b="1" dirty="0">
                <a:solidFill>
                  <a:srgbClr val="F6EFDF"/>
                </a:solidFill>
                <a:latin typeface="DM Sans" pitchFamily="34" charset="0"/>
                <a:ea typeface="DM Sans" pitchFamily="34" charset="-122"/>
                <a:cs typeface="DM Sans" pitchFamily="34" charset="-120"/>
              </a:rPr>
              <a:t>Vérification</a:t>
            </a:r>
            <a:endParaRPr lang="en-US" sz="1400" dirty="0"/>
          </a:p>
        </p:txBody>
      </p:sp>
      <p:pic>
        <p:nvPicPr>
          <p:cNvPr id="18" name="Image 1" descr="arrow-right">    </p:cNvPr>
          <p:cNvPicPr>
            <a:picLocks noChangeAspect="1"/>
          </p:cNvPicPr>
          <p:nvPr/>
        </p:nvPicPr>
        <p:blipFill>
          <a:blip r:embed="rId2"/>
          <a:srcRect l="0" r="0" t="0" b="0"/>
          <a:stretch/>
        </p:blipFill>
        <p:spPr>
          <a:xfrm>
            <a:off x="3606959" y="3693161"/>
            <a:ext cx="355600" cy="177800"/>
          </a:xfrm>
          <a:prstGeom prst="rect">
            <a:avLst/>
          </a:prstGeom>
        </p:spPr>
      </p:pic>
      <p:sp>
        <p:nvSpPr>
          <p:cNvPr id="19" name="Text 15"/>
          <p:cNvSpPr/>
          <p:nvPr/>
        </p:nvSpPr>
        <p:spPr>
          <a:xfrm>
            <a:off x="4064159" y="3543300"/>
            <a:ext cx="1342469" cy="477520"/>
          </a:xfrm>
          <a:prstGeom prst="roundRect">
            <a:avLst>
              <a:gd name="adj" fmla="val 13298"/>
            </a:avLst>
          </a:prstGeom>
          <a:solidFill>
            <a:srgbClr val="1E3B2A"/>
          </a:solidFill>
          <a:ln/>
        </p:spPr>
        <p:txBody>
          <a:bodyPr wrap="none" lIns="0" tIns="0" rIns="0" bIns="0" rtlCol="0" anchor="ctr">
            <a:normAutofit/>
          </a:bodyPr>
          <a:lstStyle/>
          <a:p>
            <a:pPr algn="ctr" indent="0" marL="0">
              <a:lnSpc>
                <a:spcPts val="1960"/>
              </a:lnSpc>
              <a:buNone/>
            </a:pPr>
            <a:r>
              <a:rPr lang="en-US" sz="1400" b="1" dirty="0">
                <a:solidFill>
                  <a:srgbClr val="F6EFDF"/>
                </a:solidFill>
                <a:latin typeface="DM Sans" pitchFamily="34" charset="0"/>
                <a:ea typeface="DM Sans" pitchFamily="34" charset="-122"/>
                <a:cs typeface="DM Sans" pitchFamily="34" charset="-120"/>
              </a:rPr>
              <a:t>PostgreSQL</a:t>
            </a:r>
            <a:endParaRPr lang="en-US" sz="1400" dirty="0"/>
          </a:p>
        </p:txBody>
      </p:sp>
      <p:pic>
        <p:nvPicPr>
          <p:cNvPr id="20" name="Image 2" descr="arrow-right">    </p:cNvPr>
          <p:cNvPicPr>
            <a:picLocks noChangeAspect="1"/>
          </p:cNvPicPr>
          <p:nvPr/>
        </p:nvPicPr>
        <p:blipFill>
          <a:blip r:embed="rId3"/>
          <a:srcRect l="0" r="0" t="0" b="0"/>
          <a:stretch/>
        </p:blipFill>
        <p:spPr>
          <a:xfrm>
            <a:off x="5508228" y="3693161"/>
            <a:ext cx="355600" cy="177800"/>
          </a:xfrm>
          <a:prstGeom prst="rect">
            <a:avLst/>
          </a:prstGeom>
        </p:spPr>
      </p:pic>
      <p:sp>
        <p:nvSpPr>
          <p:cNvPr id="21" name="Text 16"/>
          <p:cNvSpPr/>
          <p:nvPr/>
        </p:nvSpPr>
        <p:spPr>
          <a:xfrm>
            <a:off x="5965428" y="3543300"/>
            <a:ext cx="1078071" cy="477520"/>
          </a:xfrm>
          <a:prstGeom prst="roundRect">
            <a:avLst>
              <a:gd name="adj" fmla="val 13298"/>
            </a:avLst>
          </a:prstGeom>
          <a:solidFill>
            <a:srgbClr val="1E3B2A"/>
          </a:solidFill>
          <a:ln/>
        </p:spPr>
        <p:txBody>
          <a:bodyPr wrap="none" lIns="0" tIns="0" rIns="0" bIns="0" rtlCol="0" anchor="ctr">
            <a:normAutofit/>
          </a:bodyPr>
          <a:lstStyle/>
          <a:p>
            <a:pPr algn="ctr" indent="0" marL="0">
              <a:lnSpc>
                <a:spcPts val="1960"/>
              </a:lnSpc>
              <a:buNone/>
            </a:pPr>
            <a:r>
              <a:rPr lang="en-US" sz="1400" b="1" dirty="0">
                <a:solidFill>
                  <a:srgbClr val="F6EFDF"/>
                </a:solidFill>
                <a:latin typeface="DM Sans" pitchFamily="34" charset="0"/>
                <a:ea typeface="DM Sans" pitchFamily="34" charset="-122"/>
                <a:cs typeface="DM Sans" pitchFamily="34" charset="-120"/>
              </a:rPr>
              <a:t>Firebase</a:t>
            </a:r>
            <a:endParaRPr lang="en-US" sz="1400" dirty="0"/>
          </a:p>
        </p:txBody>
      </p:sp>
      <p:pic>
        <p:nvPicPr>
          <p:cNvPr id="22" name="Image 3" descr="arrow-right">    </p:cNvPr>
          <p:cNvPicPr>
            <a:picLocks noChangeAspect="1"/>
          </p:cNvPicPr>
          <p:nvPr/>
        </p:nvPicPr>
        <p:blipFill>
          <a:blip r:embed="rId4"/>
          <a:srcRect l="0" r="0" t="0" b="0"/>
          <a:stretch/>
        </p:blipFill>
        <p:spPr>
          <a:xfrm>
            <a:off x="7145100" y="3693161"/>
            <a:ext cx="355600" cy="177800"/>
          </a:xfrm>
          <a:prstGeom prst="rect">
            <a:avLst/>
          </a:prstGeom>
        </p:spPr>
      </p:pic>
      <p:sp>
        <p:nvSpPr>
          <p:cNvPr id="23" name="Text 17"/>
          <p:cNvSpPr/>
          <p:nvPr/>
        </p:nvSpPr>
        <p:spPr>
          <a:xfrm>
            <a:off x="7602300" y="3543300"/>
            <a:ext cx="1160939" cy="477520"/>
          </a:xfrm>
          <a:prstGeom prst="roundRect">
            <a:avLst>
              <a:gd name="adj" fmla="val 13298"/>
            </a:avLst>
          </a:prstGeom>
          <a:solidFill>
            <a:srgbClr val="C9A43A"/>
          </a:solidFill>
          <a:ln/>
        </p:spPr>
        <p:txBody>
          <a:bodyPr wrap="none" lIns="0" tIns="0" rIns="0" bIns="0" rtlCol="0" anchor="ctr">
            <a:normAutofit/>
          </a:bodyPr>
          <a:lstStyle/>
          <a:p>
            <a:pPr algn="ctr" indent="0" marL="0">
              <a:lnSpc>
                <a:spcPts val="1960"/>
              </a:lnSpc>
              <a:buNone/>
            </a:pPr>
            <a:r>
              <a:rPr lang="en-US" sz="1400" b="1" dirty="0">
                <a:solidFill>
                  <a:srgbClr val="1E3B2A"/>
                </a:solidFill>
                <a:latin typeface="DM Sans" pitchFamily="34" charset="0"/>
                <a:ea typeface="DM Sans" pitchFamily="34" charset="-122"/>
                <a:cs typeface="DM Sans" pitchFamily="34" charset="-120"/>
              </a:rPr>
              <a:t>Affichage</a:t>
            </a:r>
            <a:endParaRPr lang="en-US" sz="1400" dirty="0"/>
          </a:p>
        </p:txBody>
      </p:sp>
      <p:sp>
        <p:nvSpPr>
          <p:cNvPr id="24" name="Text 18"/>
          <p:cNvSpPr/>
          <p:nvPr/>
        </p:nvSpPr>
        <p:spPr>
          <a:xfrm>
            <a:off x="812800" y="4325621"/>
            <a:ext cx="531088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4436"/>
                </a:solidFill>
                <a:latin typeface="DM Sans" pitchFamily="34" charset="0"/>
                <a:ea typeface="DM Sans" pitchFamily="34" charset="-122"/>
                <a:cs typeface="DM Sans" pitchFamily="34" charset="-120"/>
              </a:rPr>
              <a:t>Vérification :</a:t>
            </a:r>
            <a:r>
              <a:rPr lang="en-US" sz="1300" dirty="0">
                <a:solidFill>
                  <a:srgbClr val="4A4436"/>
                </a:solidFill>
                <a:latin typeface="DM Sans" pitchFamily="34" charset="0"/>
                <a:ea typeface="DM Sans" pitchFamily="34" charset="-122"/>
                <a:cs typeface="DM Sans" pitchFamily="34" charset="-120"/>
              </a:rPr>
              <a:t> appartenance, blocages, 500 caractères, cadence, filtre de mots.</a:t>
            </a:r>
            <a:endParaRPr lang="en-US" sz="1300" dirty="0"/>
          </a:p>
        </p:txBody>
      </p:sp>
      <p:sp>
        <p:nvSpPr>
          <p:cNvPr id="25" name="Text 19"/>
          <p:cNvSpPr/>
          <p:nvPr/>
        </p:nvSpPr>
        <p:spPr>
          <a:xfrm>
            <a:off x="6223000" y="4325621"/>
            <a:ext cx="531088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4436"/>
                </a:solidFill>
                <a:latin typeface="DM Sans" pitchFamily="34" charset="0"/>
                <a:ea typeface="DM Sans" pitchFamily="34" charset="-122"/>
                <a:cs typeface="DM Sans" pitchFamily="34" charset="-120"/>
              </a:rPr>
              <a:t>Chat universel :</a:t>
            </a:r>
            <a:r>
              <a:rPr lang="en-US" sz="1300" dirty="0">
                <a:solidFill>
                  <a:srgbClr val="4A4436"/>
                </a:solidFill>
                <a:latin typeface="DM Sans" pitchFamily="34" charset="0"/>
                <a:ea typeface="DM Sans" pitchFamily="34" charset="-122"/>
                <a:cs typeface="DM Sans" pitchFamily="34" charset="-120"/>
              </a:rPr>
              <a:t> 1 message toutes les 2 s, mode lent, signalement, admin qui peut supprimer ou rendre muet.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6D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Amis et groupes : des demandes acceptées, des groupes personnels</a:t>
            </a:r>
            <a:endParaRPr lang="en-US" sz="3200" dirty="0"/>
          </a:p>
        </p:txBody>
      </p:sp>
      <p:sp>
        <p:nvSpPr>
          <p:cNvPr id="3" name="Shape 1"/>
          <p:cNvSpPr/>
          <p:nvPr/>
        </p:nvSpPr>
        <p:spPr>
          <a:xfrm>
            <a:off x="815975" y="2055496"/>
            <a:ext cx="5149850" cy="1944370"/>
          </a:xfrm>
          <a:prstGeom prst="roundRect">
            <a:avLst>
              <a:gd name="adj" fmla="val 3756"/>
            </a:avLst>
          </a:prstGeom>
          <a:solidFill>
            <a:srgbClr val="FFFCF4"/>
          </a:solidFill>
          <a:ln w="6350">
            <a:solidFill>
              <a:srgbClr val="E2D7BE"/>
            </a:solidFill>
            <a:prstDash val="solid"/>
          </a:ln>
        </p:spPr>
      </p:sp>
      <p:sp>
        <p:nvSpPr>
          <p:cNvPr id="4" name="Text 2"/>
          <p:cNvSpPr/>
          <p:nvPr/>
        </p:nvSpPr>
        <p:spPr>
          <a:xfrm>
            <a:off x="1071880" y="2311400"/>
            <a:ext cx="477718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D1F"/>
                </a:solidFill>
                <a:latin typeface="DM Sans" pitchFamily="34" charset="0"/>
                <a:ea typeface="DM Sans" pitchFamily="34" charset="-122"/>
                <a:cs typeface="DM Sans" pitchFamily="34" charset="-120"/>
              </a:rPr>
              <a:t>TROUVER QUELQU’UN</a:t>
            </a:r>
            <a:endParaRPr lang="en-US" sz="1200" dirty="0"/>
          </a:p>
        </p:txBody>
      </p:sp>
      <p:pic>
        <p:nvPicPr>
          <p:cNvPr id="5" name="Image 0" descr="Key">    </p:cNvPr>
          <p:cNvPicPr>
            <a:picLocks noChangeAspect="1"/>
          </p:cNvPicPr>
          <p:nvPr/>
        </p:nvPicPr>
        <p:blipFill>
          <a:blip r:embed="rId1"/>
          <a:srcRect l="0" r="0" t="0" b="0"/>
          <a:stretch/>
        </p:blipFill>
        <p:spPr>
          <a:xfrm>
            <a:off x="1071880" y="2651761"/>
            <a:ext cx="279400" cy="279400"/>
          </a:xfrm>
          <a:prstGeom prst="rect">
            <a:avLst/>
          </a:prstGeom>
        </p:spPr>
      </p:pic>
      <p:sp>
        <p:nvSpPr>
          <p:cNvPr id="6" name="Text 3"/>
          <p:cNvSpPr/>
          <p:nvPr/>
        </p:nvSpPr>
        <p:spPr>
          <a:xfrm>
            <a:off x="1478280" y="2667000"/>
            <a:ext cx="3853339"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A24"/>
                </a:solidFill>
                <a:latin typeface="DM Sans" pitchFamily="34" charset="0"/>
                <a:ea typeface="DM Sans" pitchFamily="34" charset="-122"/>
                <a:cs typeface="DM Sans" pitchFamily="34" charset="-120"/>
              </a:rPr>
              <a:t>Code ami unique</a:t>
            </a:r>
            <a:r>
              <a:rPr lang="en-US" sz="1400" dirty="0">
                <a:solidFill>
                  <a:srgbClr val="2B2A24"/>
                </a:solidFill>
                <a:latin typeface="DM Sans" pitchFamily="34" charset="0"/>
                <a:ea typeface="DM Sans" pitchFamily="34" charset="-122"/>
                <a:cs typeface="DM Sans" pitchFamily="34" charset="-120"/>
              </a:rPr>
              <a:t>, affiché dans le profil</a:t>
            </a:r>
            <a:endParaRPr lang="en-US" sz="1400" dirty="0"/>
          </a:p>
        </p:txBody>
      </p:sp>
      <p:pic>
        <p:nvPicPr>
          <p:cNvPr id="7" name="Image 1" descr="Search">    </p:cNvPr>
          <p:cNvPicPr>
            <a:picLocks noChangeAspect="1"/>
          </p:cNvPicPr>
          <p:nvPr/>
        </p:nvPicPr>
        <p:blipFill>
          <a:blip r:embed="rId2"/>
          <a:srcRect l="0" r="0" t="0" b="0"/>
          <a:stretch/>
        </p:blipFill>
        <p:spPr>
          <a:xfrm>
            <a:off x="1071880" y="3058161"/>
            <a:ext cx="279400" cy="279400"/>
          </a:xfrm>
          <a:prstGeom prst="rect">
            <a:avLst/>
          </a:prstGeom>
        </p:spPr>
      </p:pic>
      <p:sp>
        <p:nvSpPr>
          <p:cNvPr id="8" name="Text 4"/>
          <p:cNvSpPr/>
          <p:nvPr/>
        </p:nvSpPr>
        <p:spPr>
          <a:xfrm>
            <a:off x="1478280" y="3073400"/>
            <a:ext cx="4363117"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A24"/>
                </a:solidFill>
                <a:latin typeface="DM Sans" pitchFamily="34" charset="0"/>
                <a:ea typeface="DM Sans" pitchFamily="34" charset="-122"/>
                <a:cs typeface="DM Sans" pitchFamily="34" charset="-120"/>
              </a:rPr>
              <a:t>Recherche par pseudo</a:t>
            </a:r>
            <a:r>
              <a:rPr lang="en-US" sz="1400" dirty="0">
                <a:solidFill>
                  <a:srgbClr val="2B2A24"/>
                </a:solidFill>
                <a:latin typeface="DM Sans" pitchFamily="34" charset="0"/>
                <a:ea typeface="DM Sans" pitchFamily="34" charset="-122"/>
                <a:cs typeface="DM Sans" pitchFamily="34" charset="-120"/>
              </a:rPr>
              <a:t>, avec avatar et pays</a:t>
            </a:r>
            <a:endParaRPr lang="en-US" sz="1400" dirty="0"/>
          </a:p>
        </p:txBody>
      </p:sp>
      <p:pic>
        <p:nvPicPr>
          <p:cNvPr id="9" name="Image 2" descr="Users">    </p:cNvPr>
          <p:cNvPicPr>
            <a:picLocks noChangeAspect="1"/>
          </p:cNvPicPr>
          <p:nvPr/>
        </p:nvPicPr>
        <p:blipFill>
          <a:blip r:embed="rId3"/>
          <a:srcRect l="0" r="0" t="0" b="0"/>
          <a:stretch/>
        </p:blipFill>
        <p:spPr>
          <a:xfrm>
            <a:off x="1071880" y="3464561"/>
            <a:ext cx="279400" cy="279400"/>
          </a:xfrm>
          <a:prstGeom prst="rect">
            <a:avLst/>
          </a:prstGeom>
        </p:spPr>
      </p:pic>
      <p:sp>
        <p:nvSpPr>
          <p:cNvPr id="10" name="Text 5"/>
          <p:cNvSpPr/>
          <p:nvPr/>
        </p:nvSpPr>
        <p:spPr>
          <a:xfrm>
            <a:off x="1478280" y="3479800"/>
            <a:ext cx="335899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A24"/>
                </a:solidFill>
                <a:latin typeface="DM Sans" pitchFamily="34" charset="0"/>
                <a:ea typeface="DM Sans" pitchFamily="34" charset="-122"/>
                <a:cs typeface="DM Sans" pitchFamily="34" charset="-120"/>
              </a:rPr>
              <a:t>Depuis l’écran de fin</a:t>
            </a:r>
            <a:r>
              <a:rPr lang="en-US" sz="1400" dirty="0">
                <a:solidFill>
                  <a:srgbClr val="2B2A24"/>
                </a:solidFill>
                <a:latin typeface="DM Sans" pitchFamily="34" charset="0"/>
                <a:ea typeface="DM Sans" pitchFamily="34" charset="-122"/>
                <a:cs typeface="DM Sans" pitchFamily="34" charset="-120"/>
              </a:rPr>
              <a:t> d’une partie</a:t>
            </a:r>
            <a:endParaRPr lang="en-US" sz="1400" dirty="0"/>
          </a:p>
        </p:txBody>
      </p:sp>
      <p:sp>
        <p:nvSpPr>
          <p:cNvPr id="11" name="Shape 6"/>
          <p:cNvSpPr/>
          <p:nvPr/>
        </p:nvSpPr>
        <p:spPr>
          <a:xfrm>
            <a:off x="6226175" y="2055496"/>
            <a:ext cx="5149850" cy="1944370"/>
          </a:xfrm>
          <a:prstGeom prst="roundRect">
            <a:avLst>
              <a:gd name="adj" fmla="val 3756"/>
            </a:avLst>
          </a:prstGeom>
          <a:solidFill>
            <a:srgbClr val="FFFCF4"/>
          </a:solidFill>
          <a:ln w="6350">
            <a:solidFill>
              <a:srgbClr val="E2D7BE"/>
            </a:solidFill>
            <a:prstDash val="solid"/>
          </a:ln>
        </p:spPr>
      </p:sp>
      <p:sp>
        <p:nvSpPr>
          <p:cNvPr id="12" name="Text 7"/>
          <p:cNvSpPr/>
          <p:nvPr/>
        </p:nvSpPr>
        <p:spPr>
          <a:xfrm>
            <a:off x="6482080" y="2311400"/>
            <a:ext cx="4777181"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A6D1F"/>
                </a:solidFill>
                <a:latin typeface="DM Sans" pitchFamily="34" charset="0"/>
                <a:ea typeface="DM Sans" pitchFamily="34" charset="-122"/>
                <a:cs typeface="DM Sans" pitchFamily="34" charset="-120"/>
              </a:rPr>
              <a:t>LES GROUPES SERVENT À</a:t>
            </a:r>
            <a:endParaRPr lang="en-US" sz="1200" dirty="0"/>
          </a:p>
        </p:txBody>
      </p:sp>
      <p:pic>
        <p:nvPicPr>
          <p:cNvPr id="13" name="Image 3" descr="Search">    </p:cNvPr>
          <p:cNvPicPr>
            <a:picLocks noChangeAspect="1"/>
          </p:cNvPicPr>
          <p:nvPr/>
        </p:nvPicPr>
        <p:blipFill>
          <a:blip r:embed="rId4"/>
          <a:srcRect l="0" r="0" t="0" b="0"/>
          <a:stretch/>
        </p:blipFill>
        <p:spPr>
          <a:xfrm>
            <a:off x="6482080" y="2651761"/>
            <a:ext cx="279400" cy="279400"/>
          </a:xfrm>
          <a:prstGeom prst="rect">
            <a:avLst/>
          </a:prstGeom>
        </p:spPr>
      </p:pic>
      <p:sp>
        <p:nvSpPr>
          <p:cNvPr id="14" name="Text 8"/>
          <p:cNvSpPr/>
          <p:nvPr/>
        </p:nvSpPr>
        <p:spPr>
          <a:xfrm>
            <a:off x="6888480" y="2667000"/>
            <a:ext cx="20674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A24"/>
                </a:solidFill>
                <a:latin typeface="DM Sans" pitchFamily="34" charset="0"/>
                <a:ea typeface="DM Sans" pitchFamily="34" charset="-122"/>
                <a:cs typeface="DM Sans" pitchFamily="34" charset="-120"/>
              </a:rPr>
              <a:t>Filtrer</a:t>
            </a:r>
            <a:r>
              <a:rPr lang="en-US" sz="1400" dirty="0">
                <a:solidFill>
                  <a:srgbClr val="2B2A24"/>
                </a:solidFill>
                <a:latin typeface="DM Sans" pitchFamily="34" charset="0"/>
                <a:ea typeface="DM Sans" pitchFamily="34" charset="-122"/>
                <a:cs typeface="DM Sans" pitchFamily="34" charset="-120"/>
              </a:rPr>
              <a:t> sa liste d’amis</a:t>
            </a:r>
            <a:endParaRPr lang="en-US" sz="1400" dirty="0"/>
          </a:p>
        </p:txBody>
      </p:sp>
      <p:pic>
        <p:nvPicPr>
          <p:cNvPr id="15" name="Image 4" descr="Chat">    </p:cNvPr>
          <p:cNvPicPr>
            <a:picLocks noChangeAspect="1"/>
          </p:cNvPicPr>
          <p:nvPr/>
        </p:nvPicPr>
        <p:blipFill>
          <a:blip r:embed="rId5"/>
          <a:srcRect l="0" r="0" t="0" b="0"/>
          <a:stretch/>
        </p:blipFill>
        <p:spPr>
          <a:xfrm>
            <a:off x="6482080" y="3058161"/>
            <a:ext cx="279400" cy="279400"/>
          </a:xfrm>
          <a:prstGeom prst="rect">
            <a:avLst/>
          </a:prstGeom>
        </p:spPr>
      </p:pic>
      <p:sp>
        <p:nvSpPr>
          <p:cNvPr id="16" name="Text 9"/>
          <p:cNvSpPr/>
          <p:nvPr/>
        </p:nvSpPr>
        <p:spPr>
          <a:xfrm>
            <a:off x="6888480" y="3073400"/>
            <a:ext cx="44843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A24"/>
                </a:solidFill>
                <a:latin typeface="DM Sans" pitchFamily="34" charset="0"/>
                <a:ea typeface="DM Sans" pitchFamily="34" charset="-122"/>
                <a:cs typeface="DM Sans" pitchFamily="34" charset="-120"/>
              </a:rPr>
              <a:t>Ouvrir une conversation</a:t>
            </a:r>
            <a:r>
              <a:rPr lang="en-US" sz="1400" dirty="0">
                <a:solidFill>
                  <a:srgbClr val="2B2A24"/>
                </a:solidFill>
                <a:latin typeface="DM Sans" pitchFamily="34" charset="0"/>
                <a:ea typeface="DM Sans" pitchFamily="34" charset="-122"/>
                <a:cs typeface="DM Sans" pitchFamily="34" charset="-120"/>
              </a:rPr>
              <a:t> de groupe en un clic</a:t>
            </a:r>
            <a:endParaRPr lang="en-US" sz="1400" dirty="0"/>
          </a:p>
        </p:txBody>
      </p:sp>
      <p:pic>
        <p:nvPicPr>
          <p:cNvPr id="17" name="Image 5" descr="Lock">    </p:cNvPr>
          <p:cNvPicPr>
            <a:picLocks noChangeAspect="1"/>
          </p:cNvPicPr>
          <p:nvPr/>
        </p:nvPicPr>
        <p:blipFill>
          <a:blip r:embed="rId6"/>
          <a:srcRect l="0" r="0" t="0" b="0"/>
          <a:stretch/>
        </p:blipFill>
        <p:spPr>
          <a:xfrm>
            <a:off x="6482080" y="3464561"/>
            <a:ext cx="279400" cy="279400"/>
          </a:xfrm>
          <a:prstGeom prst="rect">
            <a:avLst/>
          </a:prstGeom>
        </p:spPr>
      </p:pic>
      <p:sp>
        <p:nvSpPr>
          <p:cNvPr id="18" name="Text 10"/>
          <p:cNvSpPr/>
          <p:nvPr/>
        </p:nvSpPr>
        <p:spPr>
          <a:xfrm>
            <a:off x="6888480" y="3479800"/>
            <a:ext cx="383667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B2A24"/>
                </a:solidFill>
                <a:latin typeface="DM Sans" pitchFamily="34" charset="0"/>
                <a:ea typeface="DM Sans" pitchFamily="34" charset="-122"/>
                <a:cs typeface="DM Sans" pitchFamily="34" charset="-120"/>
              </a:rPr>
              <a:t>Réserver une salle</a:t>
            </a:r>
            <a:r>
              <a:rPr lang="en-US" sz="1400" dirty="0">
                <a:solidFill>
                  <a:srgbClr val="2B2A24"/>
                </a:solidFill>
                <a:latin typeface="DM Sans" pitchFamily="34" charset="0"/>
                <a:ea typeface="DM Sans" pitchFamily="34" charset="-122"/>
                <a:cs typeface="DM Sans" pitchFamily="34" charset="-120"/>
              </a:rPr>
              <a:t> « Amis seulement »</a:t>
            </a:r>
            <a:endParaRPr lang="en-US" sz="1400" dirty="0"/>
          </a:p>
        </p:txBody>
      </p:sp>
      <p:sp>
        <p:nvSpPr>
          <p:cNvPr id="19" name="Text 11"/>
          <p:cNvSpPr/>
          <p:nvPr/>
        </p:nvSpPr>
        <p:spPr>
          <a:xfrm>
            <a:off x="812800" y="4307842"/>
            <a:ext cx="531088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4436"/>
                </a:solidFill>
                <a:latin typeface="DM Sans" pitchFamily="34" charset="0"/>
                <a:ea typeface="DM Sans" pitchFamily="34" charset="-122"/>
                <a:cs typeface="DM Sans" pitchFamily="34" charset="-120"/>
              </a:rPr>
              <a:t>Présence en ligne :</a:t>
            </a:r>
            <a:r>
              <a:rPr lang="en-US" sz="1300" dirty="0">
                <a:solidFill>
                  <a:srgbClr val="4A4436"/>
                </a:solidFill>
                <a:latin typeface="DM Sans" pitchFamily="34" charset="0"/>
                <a:ea typeface="DM Sans" pitchFamily="34" charset="-122"/>
                <a:cs typeface="DM Sans" pitchFamily="34" charset="-120"/>
              </a:rPr>
              <a:t> en ligne, en partie ou hors ligne, visible des seuls amis. Un bouton « Inviter à jouer » suit.</a:t>
            </a:r>
            <a:endParaRPr lang="en-US" sz="1300" dirty="0"/>
          </a:p>
        </p:txBody>
      </p:sp>
      <p:sp>
        <p:nvSpPr>
          <p:cNvPr id="20" name="Text 12"/>
          <p:cNvSpPr/>
          <p:nvPr/>
        </p:nvSpPr>
        <p:spPr>
          <a:xfrm>
            <a:off x="6223000" y="4307842"/>
            <a:ext cx="5310886"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4436"/>
                </a:solidFill>
                <a:latin typeface="DM Sans" pitchFamily="34" charset="0"/>
                <a:ea typeface="DM Sans" pitchFamily="34" charset="-122"/>
                <a:cs typeface="DM Sans" pitchFamily="34" charset="-120"/>
              </a:rPr>
              <a:t>Limites :</a:t>
            </a:r>
            <a:r>
              <a:rPr lang="en-US" sz="1300" dirty="0">
                <a:solidFill>
                  <a:srgbClr val="4A4436"/>
                </a:solidFill>
                <a:latin typeface="DM Sans" pitchFamily="34" charset="0"/>
                <a:ea typeface="DM Sans" pitchFamily="34" charset="-122"/>
                <a:cs typeface="DM Sans" pitchFamily="34" charset="-120"/>
              </a:rPr>
              <a:t> 200 amis, 20 groupes, 10 demandes par heure. L’adresse e-mail n’est jamais montrée.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F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Seul le serveur écrit dans Firebase</a:t>
            </a:r>
            <a:endParaRPr lang="en-US" sz="3200" dirty="0"/>
          </a:p>
        </p:txBody>
      </p:sp>
      <p:sp>
        <p:nvSpPr>
          <p:cNvPr id="3" name="Shape 1"/>
          <p:cNvSpPr/>
          <p:nvPr/>
        </p:nvSpPr>
        <p:spPr>
          <a:xfrm>
            <a:off x="819150" y="1593850"/>
            <a:ext cx="10553700" cy="749300"/>
          </a:xfrm>
          <a:prstGeom prst="roundRect">
            <a:avLst>
              <a:gd name="adj" fmla="val 9322"/>
            </a:avLst>
          </a:prstGeom>
          <a:solidFill>
            <a:srgbClr val="FFFCF4"/>
          </a:solidFill>
          <a:ln w="12700">
            <a:solidFill>
              <a:srgbClr val="B9AE93"/>
            </a:solidFill>
            <a:prstDash val="solid"/>
          </a:ln>
        </p:spPr>
      </p:sp>
      <p:sp>
        <p:nvSpPr>
          <p:cNvPr id="4" name="Text 2"/>
          <p:cNvSpPr/>
          <p:nvPr/>
        </p:nvSpPr>
        <p:spPr>
          <a:xfrm>
            <a:off x="1051560" y="1700529"/>
            <a:ext cx="1039154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3B2A"/>
                </a:solidFill>
                <a:latin typeface="DM Sans" pitchFamily="34" charset="0"/>
                <a:ea typeface="DM Sans" pitchFamily="34" charset="-122"/>
                <a:cs typeface="DM Sans" pitchFamily="34" charset="-120"/>
              </a:rPr>
              <a:t>Navigateur — React (Vercel), PWA</a:t>
            </a:r>
            <a:endParaRPr lang="en-US" sz="1600" dirty="0"/>
          </a:p>
        </p:txBody>
      </p:sp>
      <p:sp>
        <p:nvSpPr>
          <p:cNvPr id="5" name="Text 3"/>
          <p:cNvSpPr/>
          <p:nvPr/>
        </p:nvSpPr>
        <p:spPr>
          <a:xfrm>
            <a:off x="1051560" y="2023114"/>
            <a:ext cx="103915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Parties, lobby, messagerie, amis · connexion par Firebase Auth</a:t>
            </a:r>
            <a:endParaRPr lang="en-US" sz="1200" dirty="0"/>
          </a:p>
        </p:txBody>
      </p:sp>
      <p:sp>
        <p:nvSpPr>
          <p:cNvPr id="6" name="Shape 4"/>
          <p:cNvSpPr/>
          <p:nvPr/>
        </p:nvSpPr>
        <p:spPr>
          <a:xfrm>
            <a:off x="812800" y="2984500"/>
            <a:ext cx="4445000" cy="1460500"/>
          </a:xfrm>
          <a:prstGeom prst="roundRect">
            <a:avLst>
              <a:gd name="adj" fmla="val 5217"/>
            </a:avLst>
          </a:prstGeom>
          <a:solidFill>
            <a:srgbClr val="1E3B2A"/>
          </a:solidFill>
          <a:ln/>
        </p:spPr>
      </p:sp>
      <p:sp>
        <p:nvSpPr>
          <p:cNvPr id="7" name="Text 5"/>
          <p:cNvSpPr/>
          <p:nvPr/>
        </p:nvSpPr>
        <p:spPr>
          <a:xfrm>
            <a:off x="1041400" y="3308350"/>
            <a:ext cx="410743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EFDF"/>
                </a:solidFill>
                <a:latin typeface="DM Sans" pitchFamily="34" charset="0"/>
                <a:ea typeface="DM Sans" pitchFamily="34" charset="-122"/>
                <a:cs typeface="DM Sans" pitchFamily="34" charset="-120"/>
              </a:rPr>
              <a:t>API FastAPI (Railway)</a:t>
            </a:r>
            <a:endParaRPr lang="en-US" sz="1600" dirty="0"/>
          </a:p>
        </p:txBody>
      </p:sp>
      <p:sp>
        <p:nvSpPr>
          <p:cNvPr id="8" name="Text 6"/>
          <p:cNvSpPr/>
          <p:nvPr/>
        </p:nvSpPr>
        <p:spPr>
          <a:xfrm>
            <a:off x="1041400" y="3643629"/>
            <a:ext cx="41074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Vérifie chaque action : droits, tour, blocages, cadence</a:t>
            </a:r>
            <a:endParaRPr lang="en-US" sz="1200" dirty="0"/>
          </a:p>
        </p:txBody>
      </p:sp>
      <p:sp>
        <p:nvSpPr>
          <p:cNvPr id="9" name="Text 7"/>
          <p:cNvSpPr/>
          <p:nvPr/>
        </p:nvSpPr>
        <p:spPr>
          <a:xfrm>
            <a:off x="1041400" y="3907792"/>
            <a:ext cx="41074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Moteur de jeu · minuteur · nettoyage</a:t>
            </a:r>
            <a:endParaRPr lang="en-US" sz="1200" dirty="0"/>
          </a:p>
        </p:txBody>
      </p:sp>
      <p:sp>
        <p:nvSpPr>
          <p:cNvPr id="10" name="Shape 8"/>
          <p:cNvSpPr/>
          <p:nvPr/>
        </p:nvSpPr>
        <p:spPr>
          <a:xfrm>
            <a:off x="819150" y="5022850"/>
            <a:ext cx="4432300" cy="939800"/>
          </a:xfrm>
          <a:prstGeom prst="roundRect">
            <a:avLst>
              <a:gd name="adj" fmla="val 7432"/>
            </a:avLst>
          </a:prstGeom>
          <a:solidFill>
            <a:srgbClr val="FFFCF4"/>
          </a:solidFill>
          <a:ln w="12700">
            <a:solidFill>
              <a:srgbClr val="B9AE93"/>
            </a:solidFill>
            <a:prstDash val="solid"/>
          </a:ln>
        </p:spPr>
      </p:sp>
      <p:sp>
        <p:nvSpPr>
          <p:cNvPr id="11" name="Text 9"/>
          <p:cNvSpPr/>
          <p:nvPr/>
        </p:nvSpPr>
        <p:spPr>
          <a:xfrm>
            <a:off x="1051560" y="5224779"/>
            <a:ext cx="40865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3B2A"/>
                </a:solidFill>
                <a:latin typeface="DM Sans" pitchFamily="34" charset="0"/>
                <a:ea typeface="DM Sans" pitchFamily="34" charset="-122"/>
                <a:cs typeface="DM Sans" pitchFamily="34" charset="-120"/>
              </a:rPr>
              <a:t>PostgreSQL — source de vérité</a:t>
            </a:r>
            <a:endParaRPr lang="en-US" sz="1600" dirty="0"/>
          </a:p>
        </p:txBody>
      </p:sp>
      <p:sp>
        <p:nvSpPr>
          <p:cNvPr id="12" name="Text 10"/>
          <p:cNvSpPr/>
          <p:nvPr/>
        </p:nvSpPr>
        <p:spPr>
          <a:xfrm>
            <a:off x="1051560" y="5547364"/>
            <a:ext cx="40865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Salles, règles, amis, conversations, messages</a:t>
            </a:r>
            <a:endParaRPr lang="en-US" sz="1200" dirty="0"/>
          </a:p>
        </p:txBody>
      </p:sp>
      <p:sp>
        <p:nvSpPr>
          <p:cNvPr id="13" name="Shape 11"/>
          <p:cNvSpPr/>
          <p:nvPr/>
        </p:nvSpPr>
        <p:spPr>
          <a:xfrm>
            <a:off x="6940550" y="2990850"/>
            <a:ext cx="4432300" cy="2971800"/>
          </a:xfrm>
          <a:prstGeom prst="roundRect">
            <a:avLst>
              <a:gd name="adj" fmla="val 2350"/>
            </a:avLst>
          </a:prstGeom>
          <a:solidFill>
            <a:srgbClr val="FFFCF4"/>
          </a:solidFill>
          <a:ln w="12700">
            <a:solidFill>
              <a:srgbClr val="B9AE93"/>
            </a:solidFill>
            <a:prstDash val="solid"/>
          </a:ln>
        </p:spPr>
      </p:sp>
      <p:sp>
        <p:nvSpPr>
          <p:cNvPr id="14" name="Text 12"/>
          <p:cNvSpPr/>
          <p:nvPr/>
        </p:nvSpPr>
        <p:spPr>
          <a:xfrm>
            <a:off x="7172960" y="3427729"/>
            <a:ext cx="4086504"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E3B2A"/>
                </a:solidFill>
                <a:latin typeface="DM Sans" pitchFamily="34" charset="0"/>
                <a:ea typeface="DM Sans" pitchFamily="34" charset="-122"/>
                <a:cs typeface="DM Sans" pitchFamily="34" charset="-120"/>
              </a:rPr>
              <a:t>Firebase Realtime Database</a:t>
            </a:r>
            <a:endParaRPr lang="en-US" sz="1600" dirty="0"/>
          </a:p>
        </p:txBody>
      </p:sp>
      <p:sp>
        <p:nvSpPr>
          <p:cNvPr id="15" name="Text 13"/>
          <p:cNvSpPr/>
          <p:nvPr/>
        </p:nvSpPr>
        <p:spPr>
          <a:xfrm>
            <a:off x="7172960" y="3750314"/>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/games : état de partie, par joueur</a:t>
            </a:r>
            <a:endParaRPr lang="en-US" sz="1200" dirty="0"/>
          </a:p>
        </p:txBody>
      </p:sp>
      <p:sp>
        <p:nvSpPr>
          <p:cNvPr id="16" name="Text 14"/>
          <p:cNvSpPr/>
          <p:nvPr/>
        </p:nvSpPr>
        <p:spPr>
          <a:xfrm>
            <a:off x="7172960" y="4009392"/>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/lobby : salons publics en attente</a:t>
            </a:r>
            <a:endParaRPr lang="en-US" sz="1200" dirty="0"/>
          </a:p>
        </p:txBody>
      </p:sp>
      <p:sp>
        <p:nvSpPr>
          <p:cNvPr id="17" name="Text 15"/>
          <p:cNvSpPr/>
          <p:nvPr/>
        </p:nvSpPr>
        <p:spPr>
          <a:xfrm>
            <a:off x="7172960" y="4268471"/>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/chat : 100 derniers messages</a:t>
            </a:r>
            <a:endParaRPr lang="en-US" sz="1200" dirty="0"/>
          </a:p>
        </p:txBody>
      </p:sp>
      <p:sp>
        <p:nvSpPr>
          <p:cNvPr id="18" name="Text 16"/>
          <p:cNvSpPr/>
          <p:nvPr/>
        </p:nvSpPr>
        <p:spPr>
          <a:xfrm>
            <a:off x="7172960" y="4527550"/>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/inbox : aperçus et non-lus</a:t>
            </a:r>
            <a:endParaRPr lang="en-US" sz="1200" dirty="0"/>
          </a:p>
        </p:txBody>
      </p:sp>
      <p:sp>
        <p:nvSpPr>
          <p:cNvPr id="19" name="Text 17"/>
          <p:cNvSpPr/>
          <p:nvPr/>
        </p:nvSpPr>
        <p:spPr>
          <a:xfrm>
            <a:off x="7172960" y="4786629"/>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/notifications : invitations</a:t>
            </a:r>
            <a:endParaRPr lang="en-US" sz="1200" dirty="0"/>
          </a:p>
        </p:txBody>
      </p:sp>
      <p:sp>
        <p:nvSpPr>
          <p:cNvPr id="20" name="Text 18"/>
          <p:cNvSpPr/>
          <p:nvPr/>
        </p:nvSpPr>
        <p:spPr>
          <a:xfrm>
            <a:off x="7172960" y="5045714"/>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/presence : en ligne, en partie</a:t>
            </a:r>
            <a:endParaRPr lang="en-US" sz="1200" dirty="0"/>
          </a:p>
        </p:txBody>
      </p:sp>
      <p:sp>
        <p:nvSpPr>
          <p:cNvPr id="21" name="Text 19"/>
          <p:cNvSpPr/>
          <p:nvPr/>
        </p:nvSpPr>
        <p:spPr>
          <a:xfrm>
            <a:off x="7172960" y="5304792"/>
            <a:ext cx="408650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4436"/>
                </a:solidFill>
                <a:latin typeface="DM Sans" pitchFamily="34" charset="0"/>
                <a:ea typeface="DM Sans" pitchFamily="34" charset="-122"/>
                <a:cs typeface="DM Sans" pitchFamily="34" charset="-120"/>
              </a:rPr>
              <a:t>/friends : miroir des amis</a:t>
            </a:r>
            <a:endParaRPr lang="en-US" sz="1200" dirty="0"/>
          </a:p>
        </p:txBody>
      </p:sp>
      <p:pic>
        <p:nvPicPr>
          <p:cNvPr id="22" name="Image 0" descr="connector">    </p:cNvPr>
          <p:cNvPicPr>
            <a:picLocks noChangeAspect="1"/>
          </p:cNvPicPr>
          <p:nvPr/>
        </p:nvPicPr>
        <p:blipFill>
          <a:blip r:embed="rId1"/>
          <a:srcRect l="0" r="0" t="0" b="0"/>
          <a:stretch/>
        </p:blipFill>
        <p:spPr>
          <a:xfrm>
            <a:off x="2984500" y="2298700"/>
            <a:ext cx="101600" cy="736600"/>
          </a:xfrm>
          <a:prstGeom prst="rect">
            <a:avLst/>
          </a:prstGeom>
        </p:spPr>
      </p:pic>
      <p:pic>
        <p:nvPicPr>
          <p:cNvPr id="23" name="Image 1" descr="connector">    </p:cNvPr>
          <p:cNvPicPr>
            <a:picLocks noChangeAspect="1"/>
          </p:cNvPicPr>
          <p:nvPr/>
        </p:nvPicPr>
        <p:blipFill>
          <a:blip r:embed="rId2"/>
          <a:srcRect l="0" r="0" t="0" b="0"/>
          <a:stretch/>
        </p:blipFill>
        <p:spPr>
          <a:xfrm>
            <a:off x="2984500" y="4394200"/>
            <a:ext cx="101600" cy="673100"/>
          </a:xfrm>
          <a:prstGeom prst="rect">
            <a:avLst/>
          </a:prstGeom>
        </p:spPr>
      </p:pic>
      <p:pic>
        <p:nvPicPr>
          <p:cNvPr id="24" name="Image 2" descr="connector">    </p:cNvPr>
          <p:cNvPicPr>
            <a:picLocks noChangeAspect="1"/>
          </p:cNvPicPr>
          <p:nvPr/>
        </p:nvPicPr>
        <p:blipFill>
          <a:blip r:embed="rId3"/>
          <a:srcRect l="0" r="0" t="0" b="0"/>
          <a:stretch/>
        </p:blipFill>
        <p:spPr>
          <a:xfrm>
            <a:off x="5194300" y="3651250"/>
            <a:ext cx="1803400" cy="127000"/>
          </a:xfrm>
          <a:prstGeom prst="rect">
            <a:avLst/>
          </a:prstGeom>
        </p:spPr>
      </p:pic>
      <p:pic>
        <p:nvPicPr>
          <p:cNvPr id="25" name="Image 3" descr="connector">    </p:cNvPr>
          <p:cNvPicPr>
            <a:picLocks noChangeAspect="1"/>
          </p:cNvPicPr>
          <p:nvPr/>
        </p:nvPicPr>
        <p:blipFill>
          <a:blip r:embed="rId4"/>
          <a:srcRect l="0" r="0" t="0" b="0"/>
          <a:stretch/>
        </p:blipFill>
        <p:spPr>
          <a:xfrm>
            <a:off x="9855200" y="2298700"/>
            <a:ext cx="101600" cy="736600"/>
          </a:xfrm>
          <a:prstGeom prst="rect">
            <a:avLst/>
          </a:prstGeom>
        </p:spPr>
      </p:pic>
      <p:pic>
        <p:nvPicPr>
          <p:cNvPr id="26" name="Image 4" descr="connector">    </p:cNvPr>
          <p:cNvPicPr>
            <a:picLocks noChangeAspect="1"/>
          </p:cNvPicPr>
          <p:nvPr/>
        </p:nvPicPr>
        <p:blipFill>
          <a:blip r:embed="rId5"/>
          <a:srcRect l="0" r="0" t="0" b="0"/>
          <a:stretch/>
        </p:blipFill>
        <p:spPr>
          <a:xfrm>
            <a:off x="7442200" y="2298700"/>
            <a:ext cx="101600" cy="736600"/>
          </a:xfrm>
          <a:prstGeom prst="rect">
            <a:avLst/>
          </a:prstGeom>
        </p:spPr>
      </p:pic>
      <p:sp>
        <p:nvSpPr>
          <p:cNvPr id="27" name="Text 20"/>
          <p:cNvSpPr/>
          <p:nvPr/>
        </p:nvSpPr>
        <p:spPr>
          <a:xfrm>
            <a:off x="3162300" y="25400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actions : REST + jeton</a:t>
            </a:r>
            <a:endParaRPr lang="en-US" sz="1200" dirty="0"/>
          </a:p>
        </p:txBody>
      </p:sp>
      <p:sp>
        <p:nvSpPr>
          <p:cNvPr id="28" name="Text 21"/>
          <p:cNvSpPr/>
          <p:nvPr/>
        </p:nvSpPr>
        <p:spPr>
          <a:xfrm>
            <a:off x="3162300" y="4610100"/>
            <a:ext cx="19621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lit et écrit</a:t>
            </a:r>
            <a:endParaRPr lang="en-US" sz="1200" dirty="0"/>
          </a:p>
        </p:txBody>
      </p:sp>
      <p:sp>
        <p:nvSpPr>
          <p:cNvPr id="29" name="Text 22"/>
          <p:cNvSpPr/>
          <p:nvPr/>
        </p:nvSpPr>
        <p:spPr>
          <a:xfrm>
            <a:off x="5308600" y="33655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8A6D1F"/>
                </a:solidFill>
                <a:latin typeface="DM Sans" pitchFamily="34" charset="0"/>
                <a:ea typeface="DM Sans" pitchFamily="34" charset="-122"/>
                <a:cs typeface="DM Sans" pitchFamily="34" charset="-120"/>
              </a:rPr>
              <a:t>écrit seul</a:t>
            </a:r>
            <a:endParaRPr lang="en-US" sz="1200" dirty="0"/>
          </a:p>
        </p:txBody>
      </p:sp>
      <p:sp>
        <p:nvSpPr>
          <p:cNvPr id="30" name="Text 23"/>
          <p:cNvSpPr/>
          <p:nvPr/>
        </p:nvSpPr>
        <p:spPr>
          <a:xfrm>
            <a:off x="10033000" y="2540000"/>
            <a:ext cx="13970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lit en direct</a:t>
            </a:r>
            <a:endParaRPr lang="en-US" sz="1200" dirty="0"/>
          </a:p>
        </p:txBody>
      </p:sp>
      <p:sp>
        <p:nvSpPr>
          <p:cNvPr id="31" name="Text 24"/>
          <p:cNvSpPr/>
          <p:nvPr/>
        </p:nvSpPr>
        <p:spPr>
          <a:xfrm>
            <a:off x="6299200" y="2540000"/>
            <a:ext cx="10922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6"/>
                </a:solidFill>
                <a:latin typeface="DM Sans" pitchFamily="34" charset="0"/>
                <a:ea typeface="DM Sans" pitchFamily="34" charset="-122"/>
                <a:cs typeface="DM Sans" pitchFamily="34" charset="-120"/>
              </a:rPr>
              <a:t>présence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6D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Sécurité et coûts : le plan gratuit suffit pour lancer</a:t>
            </a:r>
            <a:endParaRPr lang="en-US" sz="3200" dirty="0"/>
          </a:p>
        </p:txBody>
      </p:sp>
      <p:sp>
        <p:nvSpPr>
          <p:cNvPr id="3" name="Shape 1"/>
          <p:cNvSpPr/>
          <p:nvPr/>
        </p:nvSpPr>
        <p:spPr>
          <a:xfrm>
            <a:off x="812800" y="1584964"/>
            <a:ext cx="3556000" cy="2951480"/>
          </a:xfrm>
          <a:prstGeom prst="roundRect">
            <a:avLst>
              <a:gd name="adj" fmla="val 3442"/>
            </a:avLst>
          </a:prstGeom>
          <a:solidFill>
            <a:srgbClr val="1E3B2A"/>
          </a:solidFill>
          <a:ln/>
        </p:spPr>
      </p:sp>
      <p:sp>
        <p:nvSpPr>
          <p:cNvPr id="4" name="Text 2"/>
          <p:cNvSpPr/>
          <p:nvPr/>
        </p:nvSpPr>
        <p:spPr>
          <a:xfrm>
            <a:off x="1117600" y="1889764"/>
            <a:ext cx="3034792" cy="914400"/>
          </a:xfrm>
          <a:prstGeom prst="rect">
            <a:avLst/>
          </a:prstGeom>
          <a:noFill/>
          <a:ln/>
        </p:spPr>
        <p:txBody>
          <a:bodyPr wrap="square" lIns="0" tIns="0" rIns="0" bIns="0" rtlCol="0" anchor="t">
            <a:normAutofit/>
          </a:bodyPr>
          <a:lstStyle/>
          <a:p>
            <a:pPr algn="l" indent="0" marL="0">
              <a:lnSpc>
                <a:spcPts val="7000"/>
              </a:lnSpc>
              <a:buNone/>
            </a:pPr>
            <a:r>
              <a:rPr lang="en-US" sz="7000" b="1" dirty="0">
                <a:solidFill>
                  <a:srgbClr val="C9A43A"/>
                </a:solidFill>
                <a:latin typeface="Playfair Display" pitchFamily="18" charset="0"/>
                <a:ea typeface="Playfair Display" pitchFamily="18" charset="-122"/>
                <a:cs typeface="Playfair Display" pitchFamily="18" charset="-120"/>
              </a:rPr>
              <a:t>100</a:t>
            </a:r>
            <a:endParaRPr lang="en-US" sz="7000" dirty="0"/>
          </a:p>
        </p:txBody>
      </p:sp>
      <p:sp>
        <p:nvSpPr>
          <p:cNvPr id="5" name="Text 3"/>
          <p:cNvSpPr/>
          <p:nvPr/>
        </p:nvSpPr>
        <p:spPr>
          <a:xfrm>
            <a:off x="1117600" y="2880364"/>
            <a:ext cx="3034792"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6EFDF"/>
                </a:solidFill>
                <a:latin typeface="DM Sans" pitchFamily="34" charset="0"/>
                <a:ea typeface="DM Sans" pitchFamily="34" charset="-122"/>
                <a:cs typeface="DM Sans" pitchFamily="34" charset="-120"/>
              </a:rPr>
              <a:t>joueurs connectés en même temps avec le plan Firebase gratuit</a:t>
            </a:r>
            <a:endParaRPr lang="en-US" sz="1600" dirty="0"/>
          </a:p>
        </p:txBody>
      </p:sp>
      <p:sp>
        <p:nvSpPr>
          <p:cNvPr id="6" name="Text 4"/>
          <p:cNvSpPr/>
          <p:nvPr/>
        </p:nvSpPr>
        <p:spPr>
          <a:xfrm>
            <a:off x="1117600" y="3804921"/>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Au-delà : 5 $/Go stocké et 1 $/Go téléchargé (plan Blaze)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734560" y="1595124"/>
          <a:ext cx="6644640" cy="2498090"/>
        </p:xfrm>
        <a:graphic>
          <a:graphicData uri="http://schemas.openxmlformats.org/drawingml/2006/table">
            <a:tbl>
              <a:tblPr/>
              <a:tblGrid>
                <a:gridCol w="2790749"/>
                <a:gridCol w="3853891"/>
              </a:tblGrid>
              <a:tr h="356870">
                <a:tc>
                  <a:txBody>
                    <a:bodyPr/>
                    <a:lstStyle/>
                    <a:p>
                      <a:pPr indent="0" marL="0">
                        <a:lnSpc>
                          <a:spcPts val="1820"/>
                        </a:lnSpc>
                        <a:buNone/>
                      </a:pPr>
                      <a:r>
                        <a:rPr lang="en-US" sz="1300" b="1" dirty="0">
                          <a:solidFill>
                            <a:srgbClr val="F6EFDF"/>
                          </a:solidFill>
                          <a:latin typeface="DM Sans" pitchFamily="34" charset="0"/>
                          <a:ea typeface="DM Sans" pitchFamily="34" charset="-122"/>
                          <a:cs typeface="DM Sans" pitchFamily="34" charset="-120"/>
                        </a:rPr>
                        <a:t>Risque</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c>
                  <a:txBody>
                    <a:bodyPr/>
                    <a:lstStyle/>
                    <a:p>
                      <a:pPr indent="0" marL="0">
                        <a:lnSpc>
                          <a:spcPts val="1820"/>
                        </a:lnSpc>
                        <a:buNone/>
                      </a:pPr>
                      <a:r>
                        <a:rPr lang="en-US" sz="1300" b="1" dirty="0">
                          <a:solidFill>
                            <a:srgbClr val="F6EFDF"/>
                          </a:solidFill>
                          <a:latin typeface="DM Sans" pitchFamily="34" charset="0"/>
                          <a:ea typeface="DM Sans" pitchFamily="34" charset="-122"/>
                          <a:cs typeface="DM Sans" pitchFamily="34" charset="-120"/>
                        </a:rPr>
                        <a:t>Parade</a:t>
                      </a:r>
                      <a:endParaRPr lang="en-US" sz="1300" dirty="0">
                        <a:latin typeface="DM Sans" charset="0"/>
                        <a:ea typeface="DM Sans" charset="0"/>
                        <a:cs typeface="DM Sans" charset="0"/>
                      </a:endParaRPr>
                    </a:p>
                  </a:txBody>
                  <a:tcPr marL="57785" marR="57785" marT="57785" marB="57785" anchor="t">
                    <a:lnL w="12700" cap="flat" cmpd="sng" algn="ctr">
                      <a:solidFill>
                        <a:srgbClr val="1C3225"/>
                      </a:solidFill>
                      <a:prstDash val="solid"/>
                      <a:round/>
                      <a:headEnd type="none" w="med" len="med"/>
                      <a:tailEnd type="none" w="med" len="med"/>
                    </a:lnL>
                    <a:lnR w="12700" cap="flat" cmpd="sng" algn="ctr">
                      <a:solidFill>
                        <a:srgbClr val="1C3225"/>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1C3225"/>
                      </a:solidFill>
                      <a:prstDash val="solid"/>
                      <a:round/>
                      <a:headEnd type="none" w="med" len="med"/>
                      <a:tailEnd type="none" w="med" len="med"/>
                    </a:lnB>
                    <a:solidFill>
                      <a:srgbClr val="1E3B2A"/>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Lire ce qui n’est pas à soi</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Règles Firebase par identifiant</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1C3225"/>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Spam, harcèlement</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Cadence limitée, blocage, signalement</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Chat universel choquant</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Filtre, mode lent, admin</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Pseudos identiques</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Code ami unique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Minuteur contourné</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Échéance tenue par le serveur</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BFB8A6"/>
                      </a:solidFill>
                      <a:prstDash val="solid"/>
                      <a:round/>
                      <a:headEnd type="none" w="med" len="med"/>
                      <a:tailEnd type="none" w="med" len="med"/>
                    </a:lnR>
                    <a:lnT w="12700" cap="flat" cmpd="sng" algn="ctr">
                      <a:solidFill>
                        <a:srgbClr val="C4BFB2"/>
                      </a:solidFill>
                      <a:prstDash val="solid"/>
                      <a:round/>
                      <a:headEnd type="none" w="med" len="med"/>
                      <a:tailEnd type="none" w="med" len="med"/>
                    </a:lnT>
                    <a:lnB w="12700" cap="flat" cmpd="sng" algn="ctr">
                      <a:solidFill>
                        <a:srgbClr val="BFB8A6"/>
                      </a:solidFill>
                      <a:prstDash val="solid"/>
                      <a:round/>
                      <a:headEnd type="none" w="med" len="med"/>
                      <a:tailEnd type="none" w="med" len="med"/>
                    </a:lnB>
                  </a:tcPr>
                </a:tc>
              </a:tr>
              <a:tr h="356870">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Données personnelles</a:t>
                      </a:r>
                      <a:endParaRPr lang="en-US" sz="1300" dirty="0">
                        <a:latin typeface="DM Sans" charset="0"/>
                        <a:ea typeface="DM Sans" charset="0"/>
                        <a:cs typeface="DM Sans" charset="0"/>
                      </a:endParaRPr>
                    </a:p>
                  </a:txBody>
                  <a:tcPr marL="57785" marR="57785" marT="57785" marB="57785" anchor="t">
                    <a:lnL w="12700" cap="flat" cmpd="sng" algn="ctr">
                      <a:solidFill>
                        <a:srgbClr val="BFB8A6"/>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c>
                  <a:txBody>
                    <a:bodyPr/>
                    <a:lstStyle/>
                    <a:p>
                      <a:pPr indent="0" marL="0">
                        <a:lnSpc>
                          <a:spcPts val="1820"/>
                        </a:lnSpc>
                        <a:buNone/>
                      </a:pPr>
                      <a:r>
                        <a:rPr lang="en-US" sz="1300" dirty="0">
                          <a:solidFill>
                            <a:srgbClr val="2B2A24"/>
                          </a:solidFill>
                          <a:latin typeface="DM Sans" pitchFamily="34" charset="0"/>
                          <a:ea typeface="DM Sans" pitchFamily="34" charset="-122"/>
                          <a:cs typeface="DM Sans" pitchFamily="34" charset="-120"/>
                        </a:rPr>
                        <a:t>E-mail caché, suppression en cascade</a:t>
                      </a:r>
                      <a:endParaRPr lang="en-US" sz="1300" dirty="0">
                        <a:latin typeface="DM Sans" charset="0"/>
                        <a:ea typeface="DM Sans" charset="0"/>
                        <a:cs typeface="DM Sans" charset="0"/>
                      </a:endParaRPr>
                    </a:p>
                  </a:txBody>
                  <a:tcPr marL="57785" marR="57785" marT="57785" marB="57785" anchor="t">
                    <a:lnL w="12700" cap="flat" cmpd="sng" algn="ctr">
                      <a:solidFill>
                        <a:srgbClr val="C4BFB2"/>
                      </a:solidFill>
                      <a:prstDash val="solid"/>
                      <a:round/>
                      <a:headEnd type="none" w="med" len="med"/>
                      <a:tailEnd type="none" w="med" len="med"/>
                    </a:lnL>
                    <a:lnR w="12700" cap="flat" cmpd="sng" algn="ctr">
                      <a:solidFill>
                        <a:srgbClr val="C4BFB2"/>
                      </a:solidFill>
                      <a:prstDash val="solid"/>
                      <a:round/>
                      <a:headEnd type="none" w="med" len="med"/>
                      <a:tailEnd type="none" w="med" len="med"/>
                    </a:lnR>
                    <a:lnT w="12700" cap="flat" cmpd="sng" algn="ctr">
                      <a:solidFill>
                        <a:srgbClr val="BFB8A6"/>
                      </a:solidFill>
                      <a:prstDash val="solid"/>
                      <a:round/>
                      <a:headEnd type="none" w="med" len="med"/>
                      <a:tailEnd type="none" w="med" len="med"/>
                    </a:lnT>
                    <a:lnB w="12700" cap="flat" cmpd="sng" algn="ctr">
                      <a:solidFill>
                        <a:srgbClr val="C4BFB2"/>
                      </a:solidFill>
                      <a:prstDash val="solid"/>
                      <a:round/>
                      <a:headEnd type="none" w="med" len="med"/>
                      <a:tailEnd type="none" w="med" len="med"/>
                    </a:lnB>
                    <a:solidFill>
                      <a:srgbClr val="F6EFDF"/>
                    </a:solidFill>
                  </a:tcPr>
                </a:tc>
              </a:tr>
            </a:tbl>
          </a:graphicData>
        </a:graphic>
      </p:graphicFrame>
      <p:sp>
        <p:nvSpPr>
          <p:cNvPr id="8" name="Text 5"/>
          <p:cNvSpPr/>
          <p:nvPr/>
        </p:nvSpPr>
        <p:spPr>
          <a:xfrm>
            <a:off x="812800" y="4841242"/>
            <a:ext cx="10883392" cy="50419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4A4436"/>
                </a:solidFill>
                <a:latin typeface="DM Sans" pitchFamily="34" charset="0"/>
                <a:ea typeface="DM Sans" pitchFamily="34" charset="-122"/>
                <a:cs typeface="DM Sans" pitchFamily="34" charset="-120"/>
              </a:rPr>
              <a:t>Loi 25 (Québec) :</a:t>
            </a:r>
            <a:r>
              <a:rPr lang="en-US" sz="1300" dirty="0">
                <a:solidFill>
                  <a:srgbClr val="4A4436"/>
                </a:solidFill>
                <a:latin typeface="DM Sans" pitchFamily="34" charset="0"/>
                <a:ea typeface="DM Sans" pitchFamily="34" charset="-122"/>
                <a:cs typeface="DM Sans" pitchFamily="34" charset="-120"/>
              </a:rPr>
              <a:t> messagerie et amis sont des renseignements personnels. Il faudra une courte politique de confidentialité, à faire valider avant une ouverture au public.</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EFDF"/>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3B2A"/>
                </a:solidFill>
                <a:latin typeface="Playfair Display" pitchFamily="18" charset="0"/>
                <a:ea typeface="Playfair Display" pitchFamily="18" charset="-122"/>
                <a:cs typeface="Playfair Display" pitchFamily="18" charset="-120"/>
              </a:rPr>
              <a:t>Plan : partie à deux complète en 8 jours</a:t>
            </a:r>
            <a:endParaRPr lang="en-US" sz="3200" dirty="0"/>
          </a:p>
        </p:txBody>
      </p:sp>
      <p:sp>
        <p:nvSpPr>
          <p:cNvPr id="3" name="Text 1"/>
          <p:cNvSpPr/>
          <p:nvPr/>
        </p:nvSpPr>
        <p:spPr>
          <a:xfrm>
            <a:off x="812800" y="1511300"/>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453"/>
                </a:solidFill>
                <a:latin typeface="DM Sans" pitchFamily="34" charset="0"/>
                <a:ea typeface="DM Sans" pitchFamily="34" charset="-122"/>
                <a:cs typeface="DM Sans" pitchFamily="34" charset="-120"/>
              </a:rPr>
              <a:t>Jours de développement, estimation médiane, un développeur · une PR par lot</a:t>
            </a:r>
            <a:endParaRPr lang="en-US" sz="1200" dirty="0"/>
          </a:p>
        </p:txBody>
      </p:sp>
      <p:sp>
        <p:nvSpPr>
          <p:cNvPr id="4" name="Text 2"/>
          <p:cNvSpPr/>
          <p:nvPr/>
        </p:nvSpPr>
        <p:spPr>
          <a:xfrm>
            <a:off x="4038600" y="1879600"/>
            <a:ext cx="30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453"/>
                </a:solidFill>
                <a:latin typeface="DM Sans" pitchFamily="34" charset="0"/>
                <a:ea typeface="DM Sans" pitchFamily="34" charset="-122"/>
                <a:cs typeface="DM Sans" pitchFamily="34" charset="-120"/>
              </a:rPr>
              <a:t>0 j</a:t>
            </a:r>
            <a:endParaRPr lang="en-US" sz="1200" dirty="0"/>
          </a:p>
        </p:txBody>
      </p:sp>
      <p:sp>
        <p:nvSpPr>
          <p:cNvPr id="5" name="Text 3"/>
          <p:cNvSpPr/>
          <p:nvPr/>
        </p:nvSpPr>
        <p:spPr>
          <a:xfrm>
            <a:off x="5638800" y="1879600"/>
            <a:ext cx="43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453"/>
                </a:solidFill>
                <a:latin typeface="DM Sans" pitchFamily="34" charset="0"/>
                <a:ea typeface="DM Sans" pitchFamily="34" charset="-122"/>
                <a:cs typeface="DM Sans" pitchFamily="34" charset="-120"/>
              </a:rPr>
              <a:t>5 j</a:t>
            </a:r>
            <a:endParaRPr lang="en-US" sz="1200" dirty="0"/>
          </a:p>
        </p:txBody>
      </p:sp>
      <p:sp>
        <p:nvSpPr>
          <p:cNvPr id="6" name="Text 4"/>
          <p:cNvSpPr/>
          <p:nvPr/>
        </p:nvSpPr>
        <p:spPr>
          <a:xfrm>
            <a:off x="7270750" y="1879600"/>
            <a:ext cx="495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453"/>
                </a:solidFill>
                <a:latin typeface="DM Sans" pitchFamily="34" charset="0"/>
                <a:ea typeface="DM Sans" pitchFamily="34" charset="-122"/>
                <a:cs typeface="DM Sans" pitchFamily="34" charset="-120"/>
              </a:rPr>
              <a:t>10 j</a:t>
            </a:r>
            <a:endParaRPr lang="en-US" sz="1200" dirty="0"/>
          </a:p>
        </p:txBody>
      </p:sp>
      <p:sp>
        <p:nvSpPr>
          <p:cNvPr id="7" name="Text 5"/>
          <p:cNvSpPr/>
          <p:nvPr/>
        </p:nvSpPr>
        <p:spPr>
          <a:xfrm>
            <a:off x="8934450" y="1879600"/>
            <a:ext cx="495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453"/>
                </a:solidFill>
                <a:latin typeface="DM Sans" pitchFamily="34" charset="0"/>
                <a:ea typeface="DM Sans" pitchFamily="34" charset="-122"/>
                <a:cs typeface="DM Sans" pitchFamily="34" charset="-120"/>
              </a:rPr>
              <a:t>15 j</a:t>
            </a:r>
            <a:endParaRPr lang="en-US" sz="1200" dirty="0"/>
          </a:p>
        </p:txBody>
      </p:sp>
      <p:sp>
        <p:nvSpPr>
          <p:cNvPr id="8" name="Text 6"/>
          <p:cNvSpPr/>
          <p:nvPr/>
        </p:nvSpPr>
        <p:spPr>
          <a:xfrm>
            <a:off x="10598150" y="1879600"/>
            <a:ext cx="4953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6B6453"/>
                </a:solidFill>
                <a:latin typeface="DM Sans" pitchFamily="34" charset="0"/>
                <a:ea typeface="DM Sans" pitchFamily="34" charset="-122"/>
                <a:cs typeface="DM Sans" pitchFamily="34" charset="-120"/>
              </a:rPr>
              <a:t>20 j</a:t>
            </a:r>
            <a:endParaRPr lang="en-US" sz="1200" dirty="0"/>
          </a:p>
        </p:txBody>
      </p:sp>
      <p:pic>
        <p:nvPicPr>
          <p:cNvPr id="9" name="Image 0" descr="line">    </p:cNvPr>
          <p:cNvPicPr>
            <a:picLocks noChangeAspect="1"/>
          </p:cNvPicPr>
          <p:nvPr/>
        </p:nvPicPr>
        <p:blipFill>
          <a:blip r:embed="rId1"/>
          <a:srcRect l="0" r="0" t="-3333" b="-3333"/>
          <a:stretch/>
        </p:blipFill>
        <p:spPr>
          <a:xfrm>
            <a:off x="4191000" y="2159000"/>
            <a:ext cx="6985000" cy="20320"/>
          </a:xfrm>
          <a:prstGeom prst="rect">
            <a:avLst/>
          </a:prstGeom>
        </p:spPr>
      </p:pic>
      <p:sp>
        <p:nvSpPr>
          <p:cNvPr id="10" name="Shape 7"/>
          <p:cNvSpPr/>
          <p:nvPr/>
        </p:nvSpPr>
        <p:spPr>
          <a:xfrm>
            <a:off x="6845300" y="2184400"/>
            <a:ext cx="19050" cy="3302000"/>
          </a:xfrm>
          <a:prstGeom prst="rect">
            <a:avLst/>
          </a:prstGeom>
          <a:gradFill rotWithShape="1">
            <a:gsLst>
              <a:gs pos="0">
                <a:srgbClr val="8A6D1F"/>
              </a:gs>
              <a:gs pos="55556">
                <a:srgbClr val="8A6D1F"/>
              </a:gs>
              <a:gs pos="55556">
                <a:srgbClr val="8A6D1F">
                  <a:alpha val="0"/>
                </a:srgbClr>
              </a:gs>
              <a:gs pos="100000">
                <a:srgbClr val="000000">
                  <a:alpha val="0"/>
                </a:srgbClr>
              </a:gs>
            </a:gsLst>
            <a:lin ang="5400000" scaled="0"/>
          </a:gradFill>
          <a:ln/>
        </p:spPr>
      </p:sp>
      <p:sp>
        <p:nvSpPr>
          <p:cNvPr id="11" name="Text 8"/>
          <p:cNvSpPr/>
          <p:nvPr/>
        </p:nvSpPr>
        <p:spPr>
          <a:xfrm>
            <a:off x="6934200" y="5511800"/>
            <a:ext cx="274701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D1F"/>
                </a:solidFill>
                <a:latin typeface="DM Sans" pitchFamily="34" charset="0"/>
                <a:ea typeface="DM Sans" pitchFamily="34" charset="-122"/>
                <a:cs typeface="DM Sans" pitchFamily="34" charset="-120"/>
              </a:rPr>
              <a:t>Jalon : multijoueur complet</a:t>
            </a:r>
            <a:endParaRPr lang="en-US" sz="1200" dirty="0"/>
          </a:p>
        </p:txBody>
      </p:sp>
      <p:sp>
        <p:nvSpPr>
          <p:cNvPr id="12" name="Text 9"/>
          <p:cNvSpPr/>
          <p:nvPr/>
        </p:nvSpPr>
        <p:spPr>
          <a:xfrm>
            <a:off x="812800" y="23622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0 · Correctif du plateau</a:t>
            </a:r>
            <a:endParaRPr lang="en-US" sz="1400" dirty="0"/>
          </a:p>
        </p:txBody>
      </p:sp>
      <p:sp>
        <p:nvSpPr>
          <p:cNvPr id="13" name="Text 10"/>
          <p:cNvSpPr/>
          <p:nvPr/>
        </p:nvSpPr>
        <p:spPr>
          <a:xfrm>
            <a:off x="812800" y="28194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1 · Actions en partie</a:t>
            </a:r>
            <a:endParaRPr lang="en-US" sz="1400" dirty="0"/>
          </a:p>
        </p:txBody>
      </p:sp>
      <p:sp>
        <p:nvSpPr>
          <p:cNvPr id="14" name="Text 11"/>
          <p:cNvSpPr/>
          <p:nvPr/>
        </p:nvSpPr>
        <p:spPr>
          <a:xfrm>
            <a:off x="812800" y="32766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2 · Règles et minuteur</a:t>
            </a:r>
            <a:endParaRPr lang="en-US" sz="1400" dirty="0"/>
          </a:p>
        </p:txBody>
      </p:sp>
      <p:sp>
        <p:nvSpPr>
          <p:cNvPr id="15" name="Text 12"/>
          <p:cNvSpPr/>
          <p:nvPr/>
        </p:nvSpPr>
        <p:spPr>
          <a:xfrm>
            <a:off x="812800" y="37338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3 · Salons publics</a:t>
            </a:r>
            <a:endParaRPr lang="en-US" sz="1400" dirty="0"/>
          </a:p>
        </p:txBody>
      </p:sp>
      <p:sp>
        <p:nvSpPr>
          <p:cNvPr id="16" name="Text 13"/>
          <p:cNvSpPr/>
          <p:nvPr/>
        </p:nvSpPr>
        <p:spPr>
          <a:xfrm>
            <a:off x="812800" y="41910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4 · Amis, groupes, présence</a:t>
            </a:r>
            <a:endParaRPr lang="en-US" sz="1400" dirty="0"/>
          </a:p>
        </p:txBody>
      </p:sp>
      <p:sp>
        <p:nvSpPr>
          <p:cNvPr id="17" name="Text 14"/>
          <p:cNvSpPr/>
          <p:nvPr/>
        </p:nvSpPr>
        <p:spPr>
          <a:xfrm>
            <a:off x="812800" y="46482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5 · Invitations, notifications</a:t>
            </a:r>
            <a:endParaRPr lang="en-US" sz="1400" dirty="0"/>
          </a:p>
        </p:txBody>
      </p:sp>
      <p:sp>
        <p:nvSpPr>
          <p:cNvPr id="18" name="Text 15"/>
          <p:cNvSpPr/>
          <p:nvPr/>
        </p:nvSpPr>
        <p:spPr>
          <a:xfrm>
            <a:off x="812800" y="5105400"/>
            <a:ext cx="32702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B2A24"/>
                </a:solidFill>
                <a:latin typeface="DM Sans" pitchFamily="34" charset="0"/>
                <a:ea typeface="DM Sans" pitchFamily="34" charset="-122"/>
                <a:cs typeface="DM Sans" pitchFamily="34" charset="-120"/>
              </a:rPr>
              <a:t>6 · Messagerie</a:t>
            </a:r>
            <a:endParaRPr lang="en-US" sz="1400" dirty="0"/>
          </a:p>
        </p:txBody>
      </p:sp>
      <p:sp>
        <p:nvSpPr>
          <p:cNvPr id="19" name="Shape 16"/>
          <p:cNvSpPr/>
          <p:nvPr/>
        </p:nvSpPr>
        <p:spPr>
          <a:xfrm>
            <a:off x="4191000" y="2374900"/>
            <a:ext cx="165100" cy="228600"/>
          </a:xfrm>
          <a:prstGeom prst="roundRect">
            <a:avLst>
              <a:gd name="adj" fmla="val 30769"/>
            </a:avLst>
          </a:prstGeom>
          <a:solidFill>
            <a:srgbClr val="1E3B2A"/>
          </a:solidFill>
          <a:ln/>
        </p:spPr>
      </p:sp>
      <p:sp>
        <p:nvSpPr>
          <p:cNvPr id="20" name="Shape 17"/>
          <p:cNvSpPr/>
          <p:nvPr/>
        </p:nvSpPr>
        <p:spPr>
          <a:xfrm>
            <a:off x="4356100" y="2832100"/>
            <a:ext cx="666750" cy="228600"/>
          </a:xfrm>
          <a:prstGeom prst="roundRect">
            <a:avLst>
              <a:gd name="adj" fmla="val 22222"/>
            </a:avLst>
          </a:prstGeom>
          <a:solidFill>
            <a:srgbClr val="1E3B2A"/>
          </a:solidFill>
          <a:ln/>
        </p:spPr>
      </p:sp>
      <p:sp>
        <p:nvSpPr>
          <p:cNvPr id="21" name="Shape 18"/>
          <p:cNvSpPr/>
          <p:nvPr/>
        </p:nvSpPr>
        <p:spPr>
          <a:xfrm>
            <a:off x="5022850" y="3289300"/>
            <a:ext cx="1162050" cy="228600"/>
          </a:xfrm>
          <a:prstGeom prst="roundRect">
            <a:avLst>
              <a:gd name="adj" fmla="val 22222"/>
            </a:avLst>
          </a:prstGeom>
          <a:solidFill>
            <a:srgbClr val="1E3B2A"/>
          </a:solidFill>
          <a:ln/>
        </p:spPr>
      </p:sp>
      <p:sp>
        <p:nvSpPr>
          <p:cNvPr id="22" name="Shape 19"/>
          <p:cNvSpPr/>
          <p:nvPr/>
        </p:nvSpPr>
        <p:spPr>
          <a:xfrm>
            <a:off x="6184900" y="3746500"/>
            <a:ext cx="666750" cy="228600"/>
          </a:xfrm>
          <a:prstGeom prst="roundRect">
            <a:avLst>
              <a:gd name="adj" fmla="val 22222"/>
            </a:avLst>
          </a:prstGeom>
          <a:solidFill>
            <a:srgbClr val="1E3B2A"/>
          </a:solidFill>
          <a:ln/>
        </p:spPr>
      </p:sp>
      <p:sp>
        <p:nvSpPr>
          <p:cNvPr id="23" name="Shape 20"/>
          <p:cNvSpPr/>
          <p:nvPr/>
        </p:nvSpPr>
        <p:spPr>
          <a:xfrm>
            <a:off x="6851650" y="4203700"/>
            <a:ext cx="1498600" cy="228600"/>
          </a:xfrm>
          <a:prstGeom prst="roundRect">
            <a:avLst>
              <a:gd name="adj" fmla="val 22222"/>
            </a:avLst>
          </a:prstGeom>
          <a:solidFill>
            <a:srgbClr val="C9A43A"/>
          </a:solidFill>
          <a:ln/>
        </p:spPr>
      </p:sp>
      <p:sp>
        <p:nvSpPr>
          <p:cNvPr id="24" name="Shape 21"/>
          <p:cNvSpPr/>
          <p:nvPr/>
        </p:nvSpPr>
        <p:spPr>
          <a:xfrm>
            <a:off x="8350250" y="4660900"/>
            <a:ext cx="666750" cy="228600"/>
          </a:xfrm>
          <a:prstGeom prst="roundRect">
            <a:avLst>
              <a:gd name="adj" fmla="val 22222"/>
            </a:avLst>
          </a:prstGeom>
          <a:solidFill>
            <a:srgbClr val="C9A43A"/>
          </a:solidFill>
          <a:ln/>
        </p:spPr>
      </p:sp>
      <p:sp>
        <p:nvSpPr>
          <p:cNvPr id="25" name="Shape 22"/>
          <p:cNvSpPr/>
          <p:nvPr/>
        </p:nvSpPr>
        <p:spPr>
          <a:xfrm>
            <a:off x="9017000" y="5118100"/>
            <a:ext cx="1993900" cy="228600"/>
          </a:xfrm>
          <a:prstGeom prst="roundRect">
            <a:avLst>
              <a:gd name="adj" fmla="val 22222"/>
            </a:avLst>
          </a:prstGeom>
          <a:solidFill>
            <a:srgbClr val="C9A43A"/>
          </a:solidFill>
          <a:ln/>
        </p:spPr>
      </p:sp>
      <p:sp>
        <p:nvSpPr>
          <p:cNvPr id="26" name="Text 23"/>
          <p:cNvSpPr/>
          <p:nvPr/>
        </p:nvSpPr>
        <p:spPr>
          <a:xfrm>
            <a:off x="4432300" y="23749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0,5 j</a:t>
            </a:r>
            <a:endParaRPr lang="en-US" sz="1200" dirty="0"/>
          </a:p>
        </p:txBody>
      </p:sp>
      <p:sp>
        <p:nvSpPr>
          <p:cNvPr id="27" name="Text 24"/>
          <p:cNvSpPr/>
          <p:nvPr/>
        </p:nvSpPr>
        <p:spPr>
          <a:xfrm>
            <a:off x="5099050" y="28321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2 j</a:t>
            </a:r>
            <a:endParaRPr lang="en-US" sz="1200" dirty="0"/>
          </a:p>
        </p:txBody>
      </p:sp>
      <p:sp>
        <p:nvSpPr>
          <p:cNvPr id="28" name="Text 25"/>
          <p:cNvSpPr/>
          <p:nvPr/>
        </p:nvSpPr>
        <p:spPr>
          <a:xfrm>
            <a:off x="6261100" y="32893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3,5 j</a:t>
            </a:r>
            <a:endParaRPr lang="en-US" sz="1200" dirty="0"/>
          </a:p>
        </p:txBody>
      </p:sp>
      <p:sp>
        <p:nvSpPr>
          <p:cNvPr id="29" name="Text 26"/>
          <p:cNvSpPr/>
          <p:nvPr/>
        </p:nvSpPr>
        <p:spPr>
          <a:xfrm>
            <a:off x="6927850" y="37465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2 j</a:t>
            </a:r>
            <a:endParaRPr lang="en-US" sz="1200" dirty="0"/>
          </a:p>
        </p:txBody>
      </p:sp>
      <p:sp>
        <p:nvSpPr>
          <p:cNvPr id="30" name="Text 27"/>
          <p:cNvSpPr/>
          <p:nvPr/>
        </p:nvSpPr>
        <p:spPr>
          <a:xfrm>
            <a:off x="8426450" y="42037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4,5 j</a:t>
            </a:r>
            <a:endParaRPr lang="en-US" sz="1200" dirty="0"/>
          </a:p>
        </p:txBody>
      </p:sp>
      <p:sp>
        <p:nvSpPr>
          <p:cNvPr id="31" name="Text 28"/>
          <p:cNvSpPr/>
          <p:nvPr/>
        </p:nvSpPr>
        <p:spPr>
          <a:xfrm>
            <a:off x="9093200" y="4660900"/>
            <a:ext cx="685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2 j</a:t>
            </a:r>
            <a:endParaRPr lang="en-US" sz="1200" dirty="0"/>
          </a:p>
        </p:txBody>
      </p:sp>
      <p:sp>
        <p:nvSpPr>
          <p:cNvPr id="32" name="Text 29"/>
          <p:cNvSpPr/>
          <p:nvPr/>
        </p:nvSpPr>
        <p:spPr>
          <a:xfrm>
            <a:off x="11087100" y="5118100"/>
            <a:ext cx="43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6"/>
                </a:solidFill>
                <a:latin typeface="DM Sans" pitchFamily="34" charset="0"/>
                <a:ea typeface="DM Sans" pitchFamily="34" charset="-122"/>
                <a:cs typeface="DM Sans" pitchFamily="34" charset="-120"/>
              </a:rPr>
              <a:t>6 j</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B2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EFDF"/>
                </a:solidFill>
                <a:latin typeface="Playfair Display" pitchFamily="18" charset="0"/>
                <a:ea typeface="Playfair Display" pitchFamily="18" charset="-122"/>
                <a:cs typeface="Playfair Display" pitchFamily="18" charset="-120"/>
              </a:rPr>
              <a:t>Huit décisions à prendre avant de commencer</a:t>
            </a:r>
            <a:endParaRPr lang="en-US" sz="3200" dirty="0"/>
          </a:p>
        </p:txBody>
      </p:sp>
      <p:sp>
        <p:nvSpPr>
          <p:cNvPr id="3" name="Shape 1"/>
          <p:cNvSpPr/>
          <p:nvPr/>
        </p:nvSpPr>
        <p:spPr>
          <a:xfrm>
            <a:off x="831850" y="1584964"/>
            <a:ext cx="0" cy="530860"/>
          </a:xfrm>
          <a:prstGeom prst="line">
            <a:avLst/>
          </a:prstGeom>
          <a:noFill/>
          <a:ln w="38100">
            <a:solidFill>
              <a:srgbClr val="C9A43A"/>
            </a:solidFill>
            <a:prstDash val="solid"/>
          </a:ln>
        </p:spPr>
      </p:sp>
      <p:sp>
        <p:nvSpPr>
          <p:cNvPr id="4" name="Text 2"/>
          <p:cNvSpPr/>
          <p:nvPr/>
        </p:nvSpPr>
        <p:spPr>
          <a:xfrm>
            <a:off x="1000760" y="1610364"/>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Messages privés : amis seulement ?</a:t>
            </a:r>
            <a:endParaRPr lang="en-US" sz="1500" dirty="0"/>
          </a:p>
        </p:txBody>
      </p:sp>
      <p:sp>
        <p:nvSpPr>
          <p:cNvPr id="5" name="Text 3"/>
          <p:cNvSpPr/>
          <p:nvPr/>
        </p:nvSpPr>
        <p:spPr>
          <a:xfrm>
            <a:off x="1000760" y="1877064"/>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Proposé : oui, contre le harcèlement</a:t>
            </a:r>
            <a:endParaRPr lang="en-US" sz="1200" dirty="0"/>
          </a:p>
        </p:txBody>
      </p:sp>
      <p:sp>
        <p:nvSpPr>
          <p:cNvPr id="6" name="Shape 4"/>
          <p:cNvSpPr/>
          <p:nvPr/>
        </p:nvSpPr>
        <p:spPr>
          <a:xfrm>
            <a:off x="6242050" y="1584964"/>
            <a:ext cx="0" cy="530860"/>
          </a:xfrm>
          <a:prstGeom prst="line">
            <a:avLst/>
          </a:prstGeom>
          <a:noFill/>
          <a:ln w="38100">
            <a:solidFill>
              <a:srgbClr val="C9A43A"/>
            </a:solidFill>
            <a:prstDash val="solid"/>
          </a:ln>
        </p:spPr>
      </p:sp>
      <p:sp>
        <p:nvSpPr>
          <p:cNvPr id="7" name="Text 5"/>
          <p:cNvSpPr/>
          <p:nvPr/>
        </p:nvSpPr>
        <p:spPr>
          <a:xfrm>
            <a:off x="6410960" y="1610364"/>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Chat universel dès le lancement ?</a:t>
            </a:r>
            <a:endParaRPr lang="en-US" sz="1500" dirty="0"/>
          </a:p>
        </p:txBody>
      </p:sp>
      <p:sp>
        <p:nvSpPr>
          <p:cNvPr id="8" name="Text 6"/>
          <p:cNvSpPr/>
          <p:nvPr/>
        </p:nvSpPr>
        <p:spPr>
          <a:xfrm>
            <a:off x="6410960" y="1877064"/>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Proposé : après la messagerie privée</a:t>
            </a:r>
            <a:endParaRPr lang="en-US" sz="1200" dirty="0"/>
          </a:p>
        </p:txBody>
      </p:sp>
      <p:sp>
        <p:nvSpPr>
          <p:cNvPr id="9" name="Shape 7"/>
          <p:cNvSpPr/>
          <p:nvPr/>
        </p:nvSpPr>
        <p:spPr>
          <a:xfrm>
            <a:off x="831850" y="2242821"/>
            <a:ext cx="0" cy="530860"/>
          </a:xfrm>
          <a:prstGeom prst="line">
            <a:avLst/>
          </a:prstGeom>
          <a:noFill/>
          <a:ln w="38100">
            <a:solidFill>
              <a:srgbClr val="C9A43A"/>
            </a:solidFill>
            <a:prstDash val="solid"/>
          </a:ln>
        </p:spPr>
      </p:sp>
      <p:sp>
        <p:nvSpPr>
          <p:cNvPr id="10" name="Text 8"/>
          <p:cNvSpPr/>
          <p:nvPr/>
        </p:nvSpPr>
        <p:spPr>
          <a:xfrm>
            <a:off x="1000760" y="2268221"/>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Qui modère ?</a:t>
            </a:r>
            <a:endParaRPr lang="en-US" sz="1500" dirty="0"/>
          </a:p>
        </p:txBody>
      </p:sp>
      <p:sp>
        <p:nvSpPr>
          <p:cNvPr id="11" name="Text 9"/>
          <p:cNvSpPr/>
          <p:nvPr/>
        </p:nvSpPr>
        <p:spPr>
          <a:xfrm>
            <a:off x="1000760" y="2534921"/>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Proposé : toi seul, comme admin</a:t>
            </a:r>
            <a:endParaRPr lang="en-US" sz="1200" dirty="0"/>
          </a:p>
        </p:txBody>
      </p:sp>
      <p:sp>
        <p:nvSpPr>
          <p:cNvPr id="12" name="Shape 10"/>
          <p:cNvSpPr/>
          <p:nvPr/>
        </p:nvSpPr>
        <p:spPr>
          <a:xfrm>
            <a:off x="6242050" y="2242821"/>
            <a:ext cx="0" cy="530860"/>
          </a:xfrm>
          <a:prstGeom prst="line">
            <a:avLst/>
          </a:prstGeom>
          <a:noFill/>
          <a:ln w="38100">
            <a:solidFill>
              <a:srgbClr val="C9A43A"/>
            </a:solidFill>
            <a:prstDash val="solid"/>
          </a:ln>
        </p:spPr>
      </p:sp>
      <p:sp>
        <p:nvSpPr>
          <p:cNvPr id="13" name="Text 11"/>
          <p:cNvSpPr/>
          <p:nvPr/>
        </p:nvSpPr>
        <p:spPr>
          <a:xfrm>
            <a:off x="6410960" y="2268221"/>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Code ami ou pseudo unique ?</a:t>
            </a:r>
            <a:endParaRPr lang="en-US" sz="1500" dirty="0"/>
          </a:p>
        </p:txBody>
      </p:sp>
      <p:sp>
        <p:nvSpPr>
          <p:cNvPr id="14" name="Text 12"/>
          <p:cNvSpPr/>
          <p:nvPr/>
        </p:nvSpPr>
        <p:spPr>
          <a:xfrm>
            <a:off x="6410960" y="2534921"/>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Proposé : code ami, aucun compte à renommer</a:t>
            </a:r>
            <a:endParaRPr lang="en-US" sz="1200" dirty="0"/>
          </a:p>
        </p:txBody>
      </p:sp>
      <p:sp>
        <p:nvSpPr>
          <p:cNvPr id="15" name="Shape 13"/>
          <p:cNvSpPr/>
          <p:nvPr/>
        </p:nvSpPr>
        <p:spPr>
          <a:xfrm>
            <a:off x="831850" y="2900679"/>
            <a:ext cx="0" cy="530860"/>
          </a:xfrm>
          <a:prstGeom prst="line">
            <a:avLst/>
          </a:prstGeom>
          <a:noFill/>
          <a:ln w="38100">
            <a:solidFill>
              <a:srgbClr val="C9A43A"/>
            </a:solidFill>
            <a:prstDash val="solid"/>
          </a:ln>
        </p:spPr>
      </p:sp>
      <p:sp>
        <p:nvSpPr>
          <p:cNvPr id="16" name="Text 14"/>
          <p:cNvSpPr/>
          <p:nvPr/>
        </p:nvSpPr>
        <p:spPr>
          <a:xfrm>
            <a:off x="1000760" y="2926079"/>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Minuteur : que faire au dépassement ?</a:t>
            </a:r>
            <a:endParaRPr lang="en-US" sz="1500" dirty="0"/>
          </a:p>
        </p:txBody>
      </p:sp>
      <p:sp>
        <p:nvSpPr>
          <p:cNvPr id="17" name="Text 15"/>
          <p:cNvSpPr/>
          <p:nvPr/>
        </p:nvSpPr>
        <p:spPr>
          <a:xfrm>
            <a:off x="1000760" y="3192779"/>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Proposé : passe ou défaite, au choix de l’hôte</a:t>
            </a:r>
            <a:endParaRPr lang="en-US" sz="1200" dirty="0"/>
          </a:p>
        </p:txBody>
      </p:sp>
      <p:sp>
        <p:nvSpPr>
          <p:cNvPr id="18" name="Shape 16"/>
          <p:cNvSpPr/>
          <p:nvPr/>
        </p:nvSpPr>
        <p:spPr>
          <a:xfrm>
            <a:off x="6242050" y="2900679"/>
            <a:ext cx="0" cy="530860"/>
          </a:xfrm>
          <a:prstGeom prst="line">
            <a:avLst/>
          </a:prstGeom>
          <a:noFill/>
          <a:ln w="38100">
            <a:solidFill>
              <a:srgbClr val="C9A43A"/>
            </a:solidFill>
            <a:prstDash val="solid"/>
          </a:ln>
        </p:spPr>
      </p:sp>
      <p:sp>
        <p:nvSpPr>
          <p:cNvPr id="19" name="Text 17"/>
          <p:cNvSpPr/>
          <p:nvPr/>
        </p:nvSpPr>
        <p:spPr>
          <a:xfrm>
            <a:off x="6410960" y="2926079"/>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Parties à 3 ou 4 joueurs ?</a:t>
            </a:r>
            <a:endParaRPr lang="en-US" sz="1500" dirty="0"/>
          </a:p>
        </p:txBody>
      </p:sp>
      <p:sp>
        <p:nvSpPr>
          <p:cNvPr id="20" name="Text 18"/>
          <p:cNvSpPr/>
          <p:nvPr/>
        </p:nvSpPr>
        <p:spPr>
          <a:xfrm>
            <a:off x="6410960" y="3192779"/>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Le plus gros chantier, non chiffré ici</a:t>
            </a:r>
            <a:endParaRPr lang="en-US" sz="1200" dirty="0"/>
          </a:p>
        </p:txBody>
      </p:sp>
      <p:sp>
        <p:nvSpPr>
          <p:cNvPr id="21" name="Shape 19"/>
          <p:cNvSpPr/>
          <p:nvPr/>
        </p:nvSpPr>
        <p:spPr>
          <a:xfrm>
            <a:off x="831850" y="3558542"/>
            <a:ext cx="0" cy="530860"/>
          </a:xfrm>
          <a:prstGeom prst="line">
            <a:avLst/>
          </a:prstGeom>
          <a:noFill/>
          <a:ln w="38100">
            <a:solidFill>
              <a:srgbClr val="C9A43A"/>
            </a:solidFill>
            <a:prstDash val="solid"/>
          </a:ln>
        </p:spPr>
      </p:sp>
      <p:sp>
        <p:nvSpPr>
          <p:cNvPr id="22" name="Text 20"/>
          <p:cNvSpPr/>
          <p:nvPr/>
        </p:nvSpPr>
        <p:spPr>
          <a:xfrm>
            <a:off x="1000760" y="3583942"/>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Dictionnaire anglais ?</a:t>
            </a:r>
            <a:endParaRPr lang="en-US" sz="1500" dirty="0"/>
          </a:p>
        </p:txBody>
      </p:sp>
      <p:sp>
        <p:nvSpPr>
          <p:cNvPr id="23" name="Text 21"/>
          <p:cNvSpPr/>
          <p:nvPr/>
        </p:nvSpPr>
        <p:spPr>
          <a:xfrm>
            <a:off x="1000760" y="3850642"/>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Il faut une liste de mots sous licence compatible</a:t>
            </a:r>
            <a:endParaRPr lang="en-US" sz="1200" dirty="0"/>
          </a:p>
        </p:txBody>
      </p:sp>
      <p:sp>
        <p:nvSpPr>
          <p:cNvPr id="24" name="Shape 22"/>
          <p:cNvSpPr/>
          <p:nvPr/>
        </p:nvSpPr>
        <p:spPr>
          <a:xfrm>
            <a:off x="6242050" y="3558542"/>
            <a:ext cx="0" cy="530860"/>
          </a:xfrm>
          <a:prstGeom prst="line">
            <a:avLst/>
          </a:prstGeom>
          <a:noFill/>
          <a:ln w="38100">
            <a:solidFill>
              <a:srgbClr val="C9A43A"/>
            </a:solidFill>
            <a:prstDash val="solid"/>
          </a:ln>
        </p:spPr>
      </p:sp>
      <p:sp>
        <p:nvSpPr>
          <p:cNvPr id="25" name="Text 23"/>
          <p:cNvSpPr/>
          <p:nvPr/>
        </p:nvSpPr>
        <p:spPr>
          <a:xfrm>
            <a:off x="6410960" y="3583942"/>
            <a:ext cx="51172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EFDF"/>
                </a:solidFill>
                <a:latin typeface="DM Sans" pitchFamily="34" charset="0"/>
                <a:ea typeface="DM Sans" pitchFamily="34" charset="-122"/>
                <a:cs typeface="DM Sans" pitchFamily="34" charset="-120"/>
              </a:rPr>
              <a:t>Classement séparé IA / à deux ?</a:t>
            </a:r>
            <a:endParaRPr lang="en-US" sz="1500" dirty="0"/>
          </a:p>
        </p:txBody>
      </p:sp>
      <p:sp>
        <p:nvSpPr>
          <p:cNvPr id="26" name="Text 24"/>
          <p:cNvSpPr/>
          <p:nvPr/>
        </p:nvSpPr>
        <p:spPr>
          <a:xfrm>
            <a:off x="6410960" y="3850642"/>
            <a:ext cx="5117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9D2BF"/>
                </a:solidFill>
                <a:latin typeface="DM Sans" pitchFamily="34" charset="0"/>
                <a:ea typeface="DM Sans" pitchFamily="34" charset="-122"/>
                <a:cs typeface="DM Sans" pitchFamily="34" charset="-120"/>
              </a:rPr>
              <a:t>Une migration, à faire avec la 0006</a:t>
            </a:r>
            <a:endParaRPr lang="en-US" sz="1200" dirty="0"/>
          </a:p>
        </p:txBody>
      </p:sp>
    </p:spTree>
  </p:cSld>
  <p:clrMapOvr>
    <a:masterClrMapping/>
  </p:clrMapOvr>
</p:sld>
</file>

<file path=ppt/theme/theme1.xml><?xml version="1.0" encoding="utf-8"?>
<a:theme xmlns:a="http://schemas.openxmlformats.org/drawingml/2006/main" name="Multijoueur 2.0 — faisabilité et plan">
  <a:themeElements>
    <a:clrScheme name="Multijoueur 2.0 — faisabilité et plan">
      <a:dk1>
        <a:srgbClr val="1E3B2A"/>
      </a:dk1>
      <a:lt1>
        <a:srgbClr val="F6EFDF"/>
      </a:lt1>
      <a:dk2>
        <a:srgbClr val="546857"/>
      </a:dk2>
      <a:lt2>
        <a:srgbClr val="E0DDCD"/>
      </a:lt2>
      <a:accent1>
        <a:srgbClr val="C9A43A"/>
      </a:accent1>
      <a:accent2>
        <a:srgbClr val="8A6D1F"/>
      </a:accent2>
      <a:accent3>
        <a:srgbClr val="5A5446"/>
      </a:accent3>
      <a:accent4>
        <a:srgbClr val="D9D2BF"/>
      </a:accent4>
      <a:accent5>
        <a:srgbClr val="4A4436"/>
      </a:accent5>
      <a:accent6>
        <a:srgbClr val="6B6453"/>
      </a:accent6>
      <a:hlink>
        <a:srgbClr val="0563C1"/>
      </a:hlink>
      <a:folHlink>
        <a:srgbClr val="954F72"/>
      </a:folHlink>
    </a:clrScheme>
    <a:fontScheme name="Multijoueur 2.0 — faisabilité et pla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Multijoueur 2.0 — faisabilité et plan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2026-10-25T19:12:17Z</dcterms:created>
  <dcterms:modified xsi:type="dcterms:W3CDTF">2026-10-25T19:12:17Z</dcterms:modified>
</cp:coreProperties>
</file>